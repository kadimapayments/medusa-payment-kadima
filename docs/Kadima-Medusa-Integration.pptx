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image" Target="../media/image-9-9.png"/><Relationship Id="rId10" Type="http://schemas.openxmlformats.org/officeDocument/2006/relationships/image" Target="../media/image-9-10.png"/><Relationship Id="rId11" Type="http://schemas.openxmlformats.org/officeDocument/2006/relationships/image" Target="../media/image-9-11.png"/><Relationship Id="rId12" Type="http://schemas.openxmlformats.org/officeDocument/2006/relationships/image" Target="../media/image-9-12.png"/><Relationship Id="rId13" Type="http://schemas.openxmlformats.org/officeDocument/2006/relationships/image" Target="../media/image-9-13.png"/><Relationship Id="rId14" Type="http://schemas.openxmlformats.org/officeDocument/2006/relationships/image" Target="../media/image-9-14.png"/><Relationship Id="rId15" Type="http://schemas.openxmlformats.org/officeDocument/2006/relationships/image" Target="../media/image-9-15.png"/><Relationship Id="rId16" Type="http://schemas.openxmlformats.org/officeDocument/2006/relationships/image" Target="../media/image-9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2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image" Target="../media/image-12-7.png"/><Relationship Id="rId8" Type="http://schemas.openxmlformats.org/officeDocument/2006/relationships/image" Target="../media/image-12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778240" y="-1828800"/>
            <a:ext cx="5486400" cy="5486400"/>
          </a:xfrm>
          <a:prstGeom prst="ellipse">
            <a:avLst/>
          </a:prstGeom>
          <a:solidFill>
            <a:srgbClr val="10303F"/>
          </a:solidFill>
          <a:ln/>
        </p:spPr>
      </p:sp>
      <p:sp>
        <p:nvSpPr>
          <p:cNvPr id="5" name="Shape 1"/>
          <p:cNvSpPr/>
          <p:nvPr/>
        </p:nvSpPr>
        <p:spPr>
          <a:xfrm>
            <a:off x="-2011680" y="4023360"/>
            <a:ext cx="5486400" cy="5486400"/>
          </a:xfrm>
          <a:prstGeom prst="ellipse">
            <a:avLst/>
          </a:prstGeom>
          <a:solidFill>
            <a:srgbClr val="0E2B1C"/>
          </a:solidFill>
          <a:ln/>
        </p:spPr>
      </p:sp>
      <p:pic>
        <p:nvPicPr>
          <p:cNvPr id="6" name="Image 2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777240"/>
            <a:ext cx="2011680" cy="45720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822960" y="2057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SANDBOX-VERIFIED</a:t>
            </a:r>
            <a:endParaRPr lang="en-US" sz="1200" dirty="0"/>
          </a:p>
        </p:txBody>
      </p:sp>
      <p:sp>
        <p:nvSpPr>
          <p:cNvPr id="8" name="Text 3"/>
          <p:cNvSpPr/>
          <p:nvPr/>
        </p:nvSpPr>
        <p:spPr>
          <a:xfrm>
            <a:off x="777240" y="2468880"/>
            <a:ext cx="1060704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integration with </a:t>
            </a:r>
            <a:pPr indent="0" marL="0">
              <a:buNone/>
            </a:pPr>
            <a:r>
              <a:rPr lang="en-US" sz="46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Medusa.js</a:t>
            </a:r>
            <a:endParaRPr lang="en-US" sz="4600" dirty="0"/>
          </a:p>
        </p:txBody>
      </p:sp>
      <p:sp>
        <p:nvSpPr>
          <p:cNvPr id="9" name="Text 4"/>
          <p:cNvSpPr/>
          <p:nvPr/>
        </p:nvSpPr>
        <p:spPr>
          <a:xfrm>
            <a:off x="804672" y="370332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&amp; ACH straight through Kadima — no middle gateway.</a:t>
            </a:r>
            <a:endParaRPr lang="en-US" sz="1800" dirty="0"/>
          </a:p>
        </p:txBody>
      </p:sp>
      <p:pic>
        <p:nvPicPr>
          <p:cNvPr id="1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343400"/>
            <a:ext cx="3108960" cy="41148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822960" y="45720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 Payments Demo Merchant  ·  Terminal 404 · DBA 466  ·  June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One less hop, one less markup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 a merchant's payments pass through a middle gateway. This integration removes it.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737360"/>
            <a:ext cx="5257800" cy="356616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822960" y="1965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TODAY</a:t>
            </a:r>
            <a:endParaRPr lang="en-US" sz="1200" dirty="0"/>
          </a:p>
        </p:txBody>
      </p:sp>
      <p:sp>
        <p:nvSpPr>
          <p:cNvPr id="9" name="Shape 5"/>
          <p:cNvSpPr/>
          <p:nvPr/>
        </p:nvSpPr>
        <p:spPr>
          <a:xfrm>
            <a:off x="1325880" y="237744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517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1508760" y="237744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Merchant store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3017520" y="290779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</a:rPr>
              <a:t>↓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1325880" y="3127248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517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508760" y="31272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Middle gateway (NMI)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017520" y="3657600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</a:rPr>
              <a:t>↓</a:t>
            </a:r>
            <a:endParaRPr lang="en-US" sz="1200" dirty="0"/>
          </a:p>
        </p:txBody>
      </p:sp>
      <p:sp>
        <p:nvSpPr>
          <p:cNvPr id="15" name="Shape 11"/>
          <p:cNvSpPr/>
          <p:nvPr/>
        </p:nvSpPr>
        <p:spPr>
          <a:xfrm>
            <a:off x="1325880" y="3877056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5171C"/>
          </a:solidFill>
          <a:ln w="19050">
            <a:solidFill>
              <a:srgbClr val="6B7280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1508760" y="387705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2296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Extra fees · extra failure point · extra integration</a:t>
            </a:r>
            <a:endParaRPr lang="en-US" sz="1050" dirty="0"/>
          </a:p>
        </p:txBody>
      </p:sp>
      <p:sp>
        <p:nvSpPr>
          <p:cNvPr id="18" name="Shape 14"/>
          <p:cNvSpPr/>
          <p:nvPr/>
        </p:nvSpPr>
        <p:spPr>
          <a:xfrm>
            <a:off x="6355080" y="1737360"/>
            <a:ext cx="5257800" cy="356616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1737360"/>
            <a:ext cx="5257800" cy="45720"/>
          </a:xfrm>
          <a:prstGeom prst="rect">
            <a:avLst/>
          </a:prstGeom>
          <a:solidFill>
            <a:srgbClr val="31BE72"/>
          </a:solidFill>
          <a:ln/>
        </p:spPr>
      </p:sp>
      <p:sp>
        <p:nvSpPr>
          <p:cNvPr id="20" name="Text 16"/>
          <p:cNvSpPr/>
          <p:nvPr/>
        </p:nvSpPr>
        <p:spPr>
          <a:xfrm>
            <a:off x="6629400" y="19659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WITH THIS INTEGRATION</a:t>
            </a:r>
            <a:endParaRPr lang="en-US" sz="1200" dirty="0"/>
          </a:p>
        </p:txBody>
      </p:sp>
      <p:sp>
        <p:nvSpPr>
          <p:cNvPr id="21" name="Shape 17"/>
          <p:cNvSpPr/>
          <p:nvPr/>
        </p:nvSpPr>
        <p:spPr>
          <a:xfrm>
            <a:off x="7726680" y="2788920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517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7909560" y="2788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Merchant store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9418320" y="3319272"/>
            <a:ext cx="2743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A93A0"/>
                </a:solidFill>
              </a:rPr>
              <a:t>↓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7726680" y="3538728"/>
            <a:ext cx="3657600" cy="548640"/>
          </a:xfrm>
          <a:prstGeom prst="roundRect">
            <a:avLst>
              <a:gd name="adj" fmla="val 13333"/>
            </a:avLst>
          </a:prstGeom>
          <a:solidFill>
            <a:srgbClr val="1517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7909560" y="3538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</a:t>
            </a:r>
            <a:endParaRPr lang="en-US" sz="1300" dirty="0"/>
          </a:p>
        </p:txBody>
      </p:sp>
      <p:sp>
        <p:nvSpPr>
          <p:cNvPr id="26" name="Text 22"/>
          <p:cNvSpPr/>
          <p:nvPr/>
        </p:nvSpPr>
        <p:spPr>
          <a:xfrm>
            <a:off x="6629400" y="48920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Direct API + webhooks · lower cost · fewer moving parts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Two providers, one plugin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is synchronous; ACH is asynchronous — so each is its own Medusa payment provider over a shared, verified client.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3529584" cy="32004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78308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039112"/>
            <a:ext cx="384048" cy="38404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804672" y="25328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kadima-card</a:t>
            </a:r>
            <a:endParaRPr lang="en-US" sz="1450" dirty="0"/>
          </a:p>
        </p:txBody>
      </p:sp>
      <p:sp>
        <p:nvSpPr>
          <p:cNvPr id="11" name="Text 6"/>
          <p:cNvSpPr/>
          <p:nvPr/>
        </p:nvSpPr>
        <p:spPr>
          <a:xfrm>
            <a:off x="804672" y="2862072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Synchronous. Merchant = terminal.id. Hosted Fields for new cards (SAQ-A); server-to-server for stored tokens. Configurable capture: auth→capture or one-shot sale.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804672" y="452628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E2B1C"/>
          </a:solidFill>
          <a:ln/>
        </p:spPr>
      </p:sp>
      <p:sp>
        <p:nvSpPr>
          <p:cNvPr id="13" name="Text 8"/>
          <p:cNvSpPr/>
          <p:nvPr/>
        </p:nvSpPr>
        <p:spPr>
          <a:xfrm>
            <a:off x="804672" y="45262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SYNC</a:t>
            </a:r>
            <a:endParaRPr lang="en-US" sz="850" dirty="0"/>
          </a:p>
        </p:txBody>
      </p:sp>
      <p:sp>
        <p:nvSpPr>
          <p:cNvPr id="14" name="Shape 9"/>
          <p:cNvSpPr/>
          <p:nvPr/>
        </p:nvSpPr>
        <p:spPr>
          <a:xfrm>
            <a:off x="4325112" y="1783080"/>
            <a:ext cx="3529584" cy="32004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4325112" y="178308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81144" y="2039112"/>
            <a:ext cx="384048" cy="3840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581144" y="25328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kadima-ach</a:t>
            </a:r>
            <a:endParaRPr lang="en-US" sz="1450" dirty="0"/>
          </a:p>
        </p:txBody>
      </p:sp>
      <p:sp>
        <p:nvSpPr>
          <p:cNvPr id="18" name="Text 12"/>
          <p:cNvSpPr/>
          <p:nvPr/>
        </p:nvSpPr>
        <p:spPr>
          <a:xfrm>
            <a:off x="4581144" y="2862072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Asynchronous. Merchant = dba.id. Submit returns authorized; the Settled webhook drives captured, Returned drives failed. SEC: PPD/CCD/WEB/TEL.</a:t>
            </a:r>
            <a:endParaRPr lang="en-US" sz="1100" dirty="0"/>
          </a:p>
        </p:txBody>
      </p:sp>
      <p:sp>
        <p:nvSpPr>
          <p:cNvPr id="19" name="Shape 13"/>
          <p:cNvSpPr/>
          <p:nvPr/>
        </p:nvSpPr>
        <p:spPr>
          <a:xfrm>
            <a:off x="4581144" y="452628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E2A38"/>
          </a:solidFill>
          <a:ln/>
        </p:spPr>
      </p:sp>
      <p:sp>
        <p:nvSpPr>
          <p:cNvPr id="20" name="Text 14"/>
          <p:cNvSpPr/>
          <p:nvPr/>
        </p:nvSpPr>
        <p:spPr>
          <a:xfrm>
            <a:off x="4581144" y="45262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27A9E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ASYNC</a:t>
            </a:r>
            <a:endParaRPr lang="en-US" sz="850" dirty="0"/>
          </a:p>
        </p:txBody>
      </p:sp>
      <p:sp>
        <p:nvSpPr>
          <p:cNvPr id="21" name="Shape 15"/>
          <p:cNvSpPr/>
          <p:nvPr/>
        </p:nvSpPr>
        <p:spPr>
          <a:xfrm>
            <a:off x="8101584" y="1783080"/>
            <a:ext cx="3529584" cy="320040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8101584" y="1783080"/>
            <a:ext cx="352958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57616" y="2039112"/>
            <a:ext cx="384048" cy="384048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8357616" y="2532888"/>
            <a:ext cx="30175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Shared &amp; secure</a:t>
            </a:r>
            <a:endParaRPr lang="en-US" sz="1450" dirty="0"/>
          </a:p>
        </p:txBody>
      </p:sp>
      <p:sp>
        <p:nvSpPr>
          <p:cNvPr id="25" name="Text 18"/>
          <p:cNvSpPr/>
          <p:nvPr/>
        </p:nvSpPr>
        <p:spPr>
          <a:xfrm>
            <a:off x="8357616" y="2862072"/>
            <a:ext cx="30175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Per-merchant Bearer token held server-side. SHA-512 webhook verification. Reference-verified request shapes. PCI SAQ-A — card data never hits your backend.</a:t>
            </a:r>
            <a:endParaRPr lang="en-US" sz="1100" dirty="0"/>
          </a:p>
        </p:txBody>
      </p:sp>
      <p:sp>
        <p:nvSpPr>
          <p:cNvPr id="26" name="Shape 19"/>
          <p:cNvSpPr/>
          <p:nvPr/>
        </p:nvSpPr>
        <p:spPr>
          <a:xfrm>
            <a:off x="8357616" y="452628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E2B1C"/>
          </a:solidFill>
          <a:ln/>
        </p:spPr>
      </p:sp>
      <p:sp>
        <p:nvSpPr>
          <p:cNvPr id="27" name="Text 20"/>
          <p:cNvSpPr/>
          <p:nvPr/>
        </p:nvSpPr>
        <p:spPr>
          <a:xfrm>
            <a:off x="8357616" y="452628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SECURE</a:t>
            </a:r>
            <a:endParaRPr lang="en-US" sz="850" dirty="0"/>
          </a:p>
        </p:txBody>
      </p:sp>
      <p:sp>
        <p:nvSpPr>
          <p:cNvPr id="28" name="Text 21"/>
          <p:cNvSpPr/>
          <p:nvPr/>
        </p:nvSpPr>
        <p:spPr>
          <a:xfrm>
            <a:off x="566928" y="5257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Reference-verified claim-by-claim, then proven live on the Kadima sandbox.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via Hosted Fields — PCI SAQ-A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The card number never touches your servers. The browser tokenizes it; you reconcile by webhook.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874520"/>
            <a:ext cx="2606040" cy="29260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804672" y="2121408"/>
            <a:ext cx="566928" cy="566928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804672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804672" y="2852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Mint a token</a:t>
            </a:r>
            <a:endParaRPr lang="en-US" sz="1450" dirty="0"/>
          </a:p>
        </p:txBody>
      </p:sp>
      <p:sp>
        <p:nvSpPr>
          <p:cNvPr id="11" name="Text 7"/>
          <p:cNvSpPr/>
          <p:nvPr/>
        </p:nvSpPr>
        <p:spPr>
          <a:xfrm>
            <a:off x="804672" y="3310128"/>
            <a:ext cx="2121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Backend calls POST /api/hosted-fields/token. The API token stays server-side.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090672" y="31546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3355848" y="1874520"/>
            <a:ext cx="2606040" cy="29260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3611880" y="2121408"/>
            <a:ext cx="566928" cy="566928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3611880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2"/>
          <p:cNvSpPr/>
          <p:nvPr/>
        </p:nvSpPr>
        <p:spPr>
          <a:xfrm>
            <a:off x="3611880" y="2852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pays in-iframe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3611880" y="3310128"/>
            <a:ext cx="2121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HostedFields.create renders Kadima's secure fields. The PAN goes straight to Kadima.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5897880" y="31546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5"/>
          <p:cNvSpPr/>
          <p:nvPr/>
        </p:nvSpPr>
        <p:spPr>
          <a:xfrm>
            <a:off x="6163056" y="1874520"/>
            <a:ext cx="2606040" cy="29260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19088" y="2121408"/>
            <a:ext cx="566928" cy="566928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6419088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</a:t>
            </a:r>
            <a:endParaRPr lang="en-US" sz="2200" dirty="0"/>
          </a:p>
        </p:txBody>
      </p:sp>
      <p:sp>
        <p:nvSpPr>
          <p:cNvPr id="22" name="Text 18"/>
          <p:cNvSpPr/>
          <p:nvPr/>
        </p:nvSpPr>
        <p:spPr>
          <a:xfrm>
            <a:off x="6419088" y="2852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 authorizes</a:t>
            </a:r>
            <a:endParaRPr lang="en-US" sz="1450" dirty="0"/>
          </a:p>
        </p:txBody>
      </p:sp>
      <p:sp>
        <p:nvSpPr>
          <p:cNvPr id="23" name="Text 19"/>
          <p:cNvSpPr/>
          <p:nvPr/>
        </p:nvSpPr>
        <p:spPr>
          <a:xfrm>
            <a:off x="6419088" y="3310128"/>
            <a:ext cx="2121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 or sale happens client-side, carrying your externalId (= order/session).</a:t>
            </a:r>
            <a:endParaRPr lang="en-US" sz="1100" dirty="0"/>
          </a:p>
        </p:txBody>
      </p:sp>
      <p:sp>
        <p:nvSpPr>
          <p:cNvPr id="24" name="Text 20"/>
          <p:cNvSpPr/>
          <p:nvPr/>
        </p:nvSpPr>
        <p:spPr>
          <a:xfrm>
            <a:off x="8705088" y="31546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21"/>
          <p:cNvSpPr/>
          <p:nvPr/>
        </p:nvSpPr>
        <p:spPr>
          <a:xfrm>
            <a:off x="8970264" y="1874520"/>
            <a:ext cx="2606040" cy="29260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6" name="Shape 22"/>
          <p:cNvSpPr/>
          <p:nvPr/>
        </p:nvSpPr>
        <p:spPr>
          <a:xfrm>
            <a:off x="9226296" y="2121408"/>
            <a:ext cx="566928" cy="566928"/>
          </a:xfrm>
          <a:prstGeom prst="ellipse">
            <a:avLst/>
          </a:prstGeom>
          <a:solidFill>
            <a:srgbClr val="0E2B1C"/>
          </a:solidFill>
          <a:ln w="19050">
            <a:solidFill>
              <a:srgbClr val="31BE72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9226296" y="2121408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4</a:t>
            </a:r>
            <a:endParaRPr lang="en-US" sz="2200" dirty="0"/>
          </a:p>
        </p:txBody>
      </p:sp>
      <p:sp>
        <p:nvSpPr>
          <p:cNvPr id="28" name="Text 24"/>
          <p:cNvSpPr/>
          <p:nvPr/>
        </p:nvSpPr>
        <p:spPr>
          <a:xfrm>
            <a:off x="9226296" y="2852928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 reconcile</a:t>
            </a:r>
            <a:endParaRPr lang="en-US" sz="1450" dirty="0"/>
          </a:p>
        </p:txBody>
      </p:sp>
      <p:sp>
        <p:nvSpPr>
          <p:cNvPr id="29" name="Text 25"/>
          <p:cNvSpPr/>
          <p:nvPr/>
        </p:nvSpPr>
        <p:spPr>
          <a:xfrm>
            <a:off x="9226296" y="3310128"/>
            <a:ext cx="2121408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transaction/create webhook arrives signed; match by externalId, record the payment.</a:t>
            </a:r>
            <a:endParaRPr lang="en-US" sz="1100" dirty="0"/>
          </a:p>
        </p:txBody>
      </p:sp>
      <p:sp>
        <p:nvSpPr>
          <p:cNvPr id="30" name="Shape 26"/>
          <p:cNvSpPr/>
          <p:nvPr/>
        </p:nvSpPr>
        <p:spPr>
          <a:xfrm>
            <a:off x="548640" y="5074920"/>
            <a:ext cx="11091672" cy="603504"/>
          </a:xfrm>
          <a:prstGeom prst="rect">
            <a:avLst/>
          </a:prstGeom>
          <a:solidFill>
            <a:srgbClr val="0E2B1C"/>
          </a:solidFill>
          <a:ln w="12700">
            <a:solidFill>
              <a:srgbClr val="31BE72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777240" y="5074920"/>
            <a:ext cx="10698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Result:  </a:t>
            </a:r>
            <a:pPr indent="0" marL="0">
              <a:buNone/>
            </a:pPr>
            <a:r>
              <a:rPr lang="en-US" sz="12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your servers stay out of PCI scope (SAQ-A) while still owning the full order + reconciliation flow.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operations — live on sandbox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capability below was executed against the real Kadima sandbox. IDs are actual transactions.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11091672" cy="566928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" y="1993392"/>
            <a:ext cx="237744" cy="237744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15568" y="182880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Authorize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3931920" y="182880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/payment/auth</a:t>
            </a:r>
            <a:endParaRPr lang="en-US" sz="1050" dirty="0"/>
          </a:p>
        </p:txBody>
      </p:sp>
      <p:sp>
        <p:nvSpPr>
          <p:cNvPr id="11" name="Text 6"/>
          <p:cNvSpPr/>
          <p:nvPr/>
        </p:nvSpPr>
        <p:spPr>
          <a:xfrm>
            <a:off x="8046720" y="182880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Approved · id 217945 · auth TAS342</a:t>
            </a:r>
            <a:endParaRPr lang="en-US" sz="1050" dirty="0"/>
          </a:p>
        </p:txBody>
      </p:sp>
      <p:sp>
        <p:nvSpPr>
          <p:cNvPr id="12" name="Shape 7"/>
          <p:cNvSpPr/>
          <p:nvPr/>
        </p:nvSpPr>
        <p:spPr>
          <a:xfrm>
            <a:off x="548640" y="2395728"/>
            <a:ext cx="11091672" cy="566928"/>
          </a:xfrm>
          <a:prstGeom prst="rect">
            <a:avLst/>
          </a:prstGeom>
          <a:solidFill>
            <a:srgbClr val="121419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8" y="2560320"/>
            <a:ext cx="237744" cy="23774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115568" y="2395728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</a:t>
            </a:r>
            <a:endParaRPr lang="en-US" sz="1250" dirty="0"/>
          </a:p>
        </p:txBody>
      </p:sp>
      <p:sp>
        <p:nvSpPr>
          <p:cNvPr id="15" name="Text 9"/>
          <p:cNvSpPr/>
          <p:nvPr/>
        </p:nvSpPr>
        <p:spPr>
          <a:xfrm>
            <a:off x="3931920" y="2395728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/payment/{id}/capture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8046720" y="2395728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Settled the authorization</a:t>
            </a:r>
            <a:endParaRPr lang="en-US" sz="1050" dirty="0"/>
          </a:p>
        </p:txBody>
      </p:sp>
      <p:sp>
        <p:nvSpPr>
          <p:cNvPr id="17" name="Shape 11"/>
          <p:cNvSpPr/>
          <p:nvPr/>
        </p:nvSpPr>
        <p:spPr>
          <a:xfrm>
            <a:off x="548640" y="2962656"/>
            <a:ext cx="11091672" cy="566928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9808" y="312724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115568" y="2962656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Sale (auth+capture)</a:t>
            </a:r>
            <a:endParaRPr lang="en-US" sz="1250" dirty="0"/>
          </a:p>
        </p:txBody>
      </p:sp>
      <p:sp>
        <p:nvSpPr>
          <p:cNvPr id="20" name="Text 13"/>
          <p:cNvSpPr/>
          <p:nvPr/>
        </p:nvSpPr>
        <p:spPr>
          <a:xfrm>
            <a:off x="3931920" y="2962656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/payment/sale</a:t>
            </a:r>
            <a:endParaRPr lang="en-US" sz="1050" dirty="0"/>
          </a:p>
        </p:txBody>
      </p:sp>
      <p:sp>
        <p:nvSpPr>
          <p:cNvPr id="21" name="Text 14"/>
          <p:cNvSpPr/>
          <p:nvPr/>
        </p:nvSpPr>
        <p:spPr>
          <a:xfrm>
            <a:off x="8046720" y="2962656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Approved · id 217948 · captured</a:t>
            </a:r>
            <a:endParaRPr lang="en-US" sz="1050" dirty="0"/>
          </a:p>
        </p:txBody>
      </p:sp>
      <p:sp>
        <p:nvSpPr>
          <p:cNvPr id="22" name="Shape 15"/>
          <p:cNvSpPr/>
          <p:nvPr/>
        </p:nvSpPr>
        <p:spPr>
          <a:xfrm>
            <a:off x="548640" y="3529584"/>
            <a:ext cx="11091672" cy="566928"/>
          </a:xfrm>
          <a:prstGeom prst="rect">
            <a:avLst/>
          </a:prstGeom>
          <a:solidFill>
            <a:srgbClr val="121419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9808" y="3694176"/>
            <a:ext cx="237744" cy="237744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1115568" y="3529584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Refund / reversal</a:t>
            </a:r>
            <a:endParaRPr lang="en-US" sz="1250" dirty="0"/>
          </a:p>
        </p:txBody>
      </p:sp>
      <p:sp>
        <p:nvSpPr>
          <p:cNvPr id="25" name="Text 17"/>
          <p:cNvSpPr/>
          <p:nvPr/>
        </p:nvSpPr>
        <p:spPr>
          <a:xfrm>
            <a:off x="3931920" y="3529584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/payment/{id}/refund</a:t>
            </a:r>
            <a:endParaRPr lang="en-US" sz="1050" dirty="0"/>
          </a:p>
        </p:txBody>
      </p:sp>
      <p:sp>
        <p:nvSpPr>
          <p:cNvPr id="26" name="Text 18"/>
          <p:cNvSpPr/>
          <p:nvPr/>
        </p:nvSpPr>
        <p:spPr>
          <a:xfrm>
            <a:off x="8046720" y="3529584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217947 · type Return</a:t>
            </a:r>
            <a:endParaRPr lang="en-US" sz="1050" dirty="0"/>
          </a:p>
        </p:txBody>
      </p:sp>
      <p:sp>
        <p:nvSpPr>
          <p:cNvPr id="27" name="Shape 19"/>
          <p:cNvSpPr/>
          <p:nvPr/>
        </p:nvSpPr>
        <p:spPr>
          <a:xfrm>
            <a:off x="548640" y="4096512"/>
            <a:ext cx="11091672" cy="566928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9808" y="4261104"/>
            <a:ext cx="237744" cy="237744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115568" y="4096512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Tokenize card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3931920" y="4096512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/payment/generate-token</a:t>
            </a:r>
            <a:endParaRPr lang="en-US" sz="1050" dirty="0"/>
          </a:p>
        </p:txBody>
      </p:sp>
      <p:sp>
        <p:nvSpPr>
          <p:cNvPr id="31" name="Text 22"/>
          <p:cNvSpPr/>
          <p:nvPr/>
        </p:nvSpPr>
        <p:spPr>
          <a:xfrm>
            <a:off x="8046720" y="4096512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 SDAtngMXzdjd1111</a:t>
            </a:r>
            <a:endParaRPr lang="en-US" sz="1050" dirty="0"/>
          </a:p>
        </p:txBody>
      </p:sp>
      <p:sp>
        <p:nvSpPr>
          <p:cNvPr id="32" name="Shape 23"/>
          <p:cNvSpPr/>
          <p:nvPr/>
        </p:nvSpPr>
        <p:spPr>
          <a:xfrm>
            <a:off x="548640" y="4663440"/>
            <a:ext cx="11091672" cy="566928"/>
          </a:xfrm>
          <a:prstGeom prst="rect">
            <a:avLst/>
          </a:prstGeom>
          <a:solidFill>
            <a:srgbClr val="121419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49808" y="4828032"/>
            <a:ext cx="237744" cy="237744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1115568" y="4663440"/>
            <a:ext cx="27432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Zero-dollar verify</a:t>
            </a:r>
            <a:endParaRPr lang="en-US" sz="1250" dirty="0"/>
          </a:p>
        </p:txBody>
      </p:sp>
      <p:sp>
        <p:nvSpPr>
          <p:cNvPr id="35" name="Text 25"/>
          <p:cNvSpPr/>
          <p:nvPr/>
        </p:nvSpPr>
        <p:spPr>
          <a:xfrm>
            <a:off x="3931920" y="4663440"/>
            <a:ext cx="402336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/payment/card-authentication</a:t>
            </a:r>
            <a:endParaRPr lang="en-US" sz="1050" dirty="0"/>
          </a:p>
        </p:txBody>
      </p:sp>
      <p:sp>
        <p:nvSpPr>
          <p:cNvPr id="36" name="Text 26"/>
          <p:cNvSpPr/>
          <p:nvPr/>
        </p:nvSpPr>
        <p:spPr>
          <a:xfrm>
            <a:off x="8046720" y="4663440"/>
            <a:ext cx="34747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Approved · CVV match M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/ eCheck — bank payments, direct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Asynchronous by nature: submit now, settle or return later via signed webhook.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2606040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828800"/>
            <a:ext cx="2606040" cy="41148"/>
          </a:xfrm>
          <a:prstGeom prst="rect">
            <a:avLst/>
          </a:prstGeom>
          <a:solidFill>
            <a:srgbClr val="31BE72"/>
          </a:solidFill>
          <a:ln/>
        </p:spPr>
      </p:sp>
      <p:sp>
        <p:nvSpPr>
          <p:cNvPr id="9" name="Text 5"/>
          <p:cNvSpPr/>
          <p:nvPr/>
        </p:nvSpPr>
        <p:spPr>
          <a:xfrm>
            <a:off x="777240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Submit debit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777240" y="23957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POST /api/ach → PENDING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3090672" y="24688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</a:rPr>
              <a:t>→</a:t>
            </a:r>
            <a:endParaRPr lang="en-US" sz="1800" dirty="0"/>
          </a:p>
        </p:txBody>
      </p:sp>
      <p:sp>
        <p:nvSpPr>
          <p:cNvPr id="12" name="Shape 8"/>
          <p:cNvSpPr/>
          <p:nvPr/>
        </p:nvSpPr>
        <p:spPr>
          <a:xfrm>
            <a:off x="3355848" y="1828800"/>
            <a:ext cx="2606040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355848" y="1828800"/>
            <a:ext cx="2606040" cy="41148"/>
          </a:xfrm>
          <a:prstGeom prst="rect">
            <a:avLst/>
          </a:prstGeom>
          <a:solidFill>
            <a:srgbClr val="27A9E2"/>
          </a:solidFill>
          <a:ln/>
        </p:spPr>
      </p:sp>
      <p:sp>
        <p:nvSpPr>
          <p:cNvPr id="14" name="Text 10"/>
          <p:cNvSpPr/>
          <p:nvPr/>
        </p:nvSpPr>
        <p:spPr>
          <a:xfrm>
            <a:off x="3584448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Transmitted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584448" y="23957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sent to ACH network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5897880" y="24688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</a:rPr>
              <a:t>→</a:t>
            </a:r>
            <a:endParaRPr lang="en-US" sz="1800" dirty="0"/>
          </a:p>
        </p:txBody>
      </p:sp>
      <p:sp>
        <p:nvSpPr>
          <p:cNvPr id="17" name="Shape 13"/>
          <p:cNvSpPr/>
          <p:nvPr/>
        </p:nvSpPr>
        <p:spPr>
          <a:xfrm>
            <a:off x="6163056" y="1828800"/>
            <a:ext cx="2606040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6163056" y="1828800"/>
            <a:ext cx="2606040" cy="41148"/>
          </a:xfrm>
          <a:prstGeom prst="rect">
            <a:avLst/>
          </a:prstGeom>
          <a:solidFill>
            <a:srgbClr val="31BE72"/>
          </a:solidFill>
          <a:ln/>
        </p:spPr>
      </p:sp>
      <p:sp>
        <p:nvSpPr>
          <p:cNvPr id="19" name="Text 15"/>
          <p:cNvSpPr/>
          <p:nvPr/>
        </p:nvSpPr>
        <p:spPr>
          <a:xfrm>
            <a:off x="6391656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Settled</a:t>
            </a:r>
            <a:endParaRPr lang="en-US" sz="1400" dirty="0"/>
          </a:p>
        </p:txBody>
      </p:sp>
      <p:sp>
        <p:nvSpPr>
          <p:cNvPr id="20" name="Text 16"/>
          <p:cNvSpPr/>
          <p:nvPr/>
        </p:nvSpPr>
        <p:spPr>
          <a:xfrm>
            <a:off x="6391656" y="23957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Medusa captured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8705088" y="24688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8A93A0"/>
                </a:solidFill>
              </a:rPr>
              <a:t>→</a:t>
            </a:r>
            <a:endParaRPr lang="en-US" sz="1800" dirty="0"/>
          </a:p>
        </p:txBody>
      </p:sp>
      <p:sp>
        <p:nvSpPr>
          <p:cNvPr id="22" name="Shape 18"/>
          <p:cNvSpPr/>
          <p:nvPr/>
        </p:nvSpPr>
        <p:spPr>
          <a:xfrm>
            <a:off x="8970264" y="1828800"/>
            <a:ext cx="2606040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8970264" y="1828800"/>
            <a:ext cx="2606040" cy="41148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0"/>
          <p:cNvSpPr/>
          <p:nvPr/>
        </p:nvSpPr>
        <p:spPr>
          <a:xfrm>
            <a:off x="9198864" y="2011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Returned</a:t>
            </a:r>
            <a:endParaRPr lang="en-US" sz="1400" dirty="0"/>
          </a:p>
        </p:txBody>
      </p:sp>
      <p:sp>
        <p:nvSpPr>
          <p:cNvPr id="25" name="Text 21"/>
          <p:cNvSpPr/>
          <p:nvPr/>
        </p:nvSpPr>
        <p:spPr>
          <a:xfrm>
            <a:off x="9198864" y="2395728"/>
            <a:ext cx="224028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R-code → failed + reverse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548640" y="3611880"/>
            <a:ext cx="5449824" cy="21031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48640" y="3611880"/>
            <a:ext cx="544982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2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3867912"/>
            <a:ext cx="384048" cy="384048"/>
          </a:xfrm>
          <a:prstGeom prst="rect">
            <a:avLst/>
          </a:prstGeom>
        </p:spPr>
      </p:pic>
      <p:sp>
        <p:nvSpPr>
          <p:cNvPr id="29" name="Text 24"/>
          <p:cNvSpPr/>
          <p:nvPr/>
        </p:nvSpPr>
        <p:spPr>
          <a:xfrm>
            <a:off x="804672" y="436168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Debit &amp; credit · SEC codes</a:t>
            </a:r>
            <a:endParaRPr lang="en-US" sz="1450" dirty="0"/>
          </a:p>
        </p:txBody>
      </p:sp>
      <p:sp>
        <p:nvSpPr>
          <p:cNvPr id="30" name="Text 25"/>
          <p:cNvSpPr/>
          <p:nvPr/>
        </p:nvSpPr>
        <p:spPr>
          <a:xfrm>
            <a:off x="804672" y="46908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PPD &amp; CCD support debit and credit (refund via offsetting credit). WEB &amp; TEL are debit-only. Void applies before the item is submitted for processing.</a:t>
            </a:r>
            <a:endParaRPr lang="en-US" sz="1100" dirty="0"/>
          </a:p>
        </p:txBody>
      </p:sp>
      <p:sp>
        <p:nvSpPr>
          <p:cNvPr id="31" name="Shape 26"/>
          <p:cNvSpPr/>
          <p:nvPr/>
        </p:nvSpPr>
        <p:spPr>
          <a:xfrm>
            <a:off x="804672" y="525780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E2B1C"/>
          </a:solidFill>
          <a:ln/>
        </p:spPr>
      </p:sp>
      <p:sp>
        <p:nvSpPr>
          <p:cNvPr id="32" name="Text 27"/>
          <p:cNvSpPr/>
          <p:nvPr/>
        </p:nvSpPr>
        <p:spPr>
          <a:xfrm>
            <a:off x="804672" y="52578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850" dirty="0"/>
          </a:p>
        </p:txBody>
      </p:sp>
      <p:sp>
        <p:nvSpPr>
          <p:cNvPr id="33" name="Shape 28"/>
          <p:cNvSpPr/>
          <p:nvPr/>
        </p:nvSpPr>
        <p:spPr>
          <a:xfrm>
            <a:off x="6181344" y="3611880"/>
            <a:ext cx="5449824" cy="21031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34" name="Shape 29"/>
          <p:cNvSpPr/>
          <p:nvPr/>
        </p:nvSpPr>
        <p:spPr>
          <a:xfrm>
            <a:off x="6181344" y="3611880"/>
            <a:ext cx="5449824" cy="41148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3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37376" y="3867912"/>
            <a:ext cx="384048" cy="384048"/>
          </a:xfrm>
          <a:prstGeom prst="rect">
            <a:avLst/>
          </a:prstGeom>
        </p:spPr>
      </p:pic>
      <p:sp>
        <p:nvSpPr>
          <p:cNvPr id="36" name="Text 30"/>
          <p:cNvSpPr/>
          <p:nvPr/>
        </p:nvSpPr>
        <p:spPr>
          <a:xfrm>
            <a:off x="6437376" y="4361688"/>
            <a:ext cx="49377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Correlation &amp; returns</a:t>
            </a:r>
            <a:endParaRPr lang="en-US" sz="1450" dirty="0"/>
          </a:p>
        </p:txBody>
      </p:sp>
      <p:sp>
        <p:nvSpPr>
          <p:cNvPr id="37" name="Text 31"/>
          <p:cNvSpPr/>
          <p:nvPr/>
        </p:nvSpPr>
        <p:spPr>
          <a:xfrm>
            <a:off x="6437376" y="4690872"/>
            <a:ext cx="49377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5000"/>
              </a:lnSpc>
              <a:buNone/>
            </a:pPr>
            <a:r>
              <a:rPr lang="en-US" sz="11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Each debit carries customer.identifier = your session id. The ach/updateStatus webhook returns the full record with status and return.code for clean reconciliation.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6437376" y="5257800"/>
            <a:ext cx="1143000" cy="256032"/>
          </a:xfrm>
          <a:prstGeom prst="roundRect">
            <a:avLst>
              <a:gd name="adj" fmla="val 21429"/>
            </a:avLst>
          </a:prstGeom>
          <a:solidFill>
            <a:srgbClr val="0E2B1C"/>
          </a:solidFill>
          <a:ln/>
        </p:spPr>
      </p:sp>
      <p:sp>
        <p:nvSpPr>
          <p:cNvPr id="39" name="Text 33"/>
          <p:cNvSpPr/>
          <p:nvPr/>
        </p:nvSpPr>
        <p:spPr>
          <a:xfrm>
            <a:off x="6437376" y="5257800"/>
            <a:ext cx="1143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3108960" y="5870448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50" i="1" dirty="0">
                <a:solidFill>
                  <a:srgbClr val="A7B0BC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Live: debit id 90785217 created (PENDING); status read back; void correctly declined on a not-yet-submitted item.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Vault — repeat &amp; recurring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Store the customer, a billing record, and a tokenized card once; charge on file forever.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920240"/>
            <a:ext cx="2606040" cy="24688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" y="2176272"/>
            <a:ext cx="365760" cy="365760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804672" y="2670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</a:t>
            </a:r>
            <a:endParaRPr lang="en-US" sz="1450" dirty="0"/>
          </a:p>
        </p:txBody>
      </p:sp>
      <p:sp>
        <p:nvSpPr>
          <p:cNvPr id="10" name="Text 5"/>
          <p:cNvSpPr/>
          <p:nvPr/>
        </p:nvSpPr>
        <p:spPr>
          <a:xfrm>
            <a:off x="804672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/api/customer-vault</a:t>
            </a:r>
            <a:endParaRPr lang="en-US" sz="950" dirty="0"/>
          </a:p>
        </p:txBody>
      </p:sp>
      <p:sp>
        <p:nvSpPr>
          <p:cNvPr id="11" name="Text 6"/>
          <p:cNvSpPr/>
          <p:nvPr/>
        </p:nvSpPr>
        <p:spPr>
          <a:xfrm>
            <a:off x="804672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8246 + vault token</a:t>
            </a:r>
            <a:endParaRPr lang="en-US" sz="1050" dirty="0"/>
          </a:p>
        </p:txBody>
      </p:sp>
      <p:sp>
        <p:nvSpPr>
          <p:cNvPr id="12" name="Text 7"/>
          <p:cNvSpPr/>
          <p:nvPr/>
        </p:nvSpPr>
        <p:spPr>
          <a:xfrm>
            <a:off x="3090672" y="29260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13" name="Shape 8"/>
          <p:cNvSpPr/>
          <p:nvPr/>
        </p:nvSpPr>
        <p:spPr>
          <a:xfrm>
            <a:off x="3355848" y="1920240"/>
            <a:ext cx="2606040" cy="24688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11880" y="2176272"/>
            <a:ext cx="365760" cy="3657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3611880" y="2670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Billing</a:t>
            </a:r>
            <a:endParaRPr lang="en-US" sz="1450" dirty="0"/>
          </a:p>
        </p:txBody>
      </p:sp>
      <p:sp>
        <p:nvSpPr>
          <p:cNvPr id="16" name="Text 10"/>
          <p:cNvSpPr/>
          <p:nvPr/>
        </p:nvSpPr>
        <p:spPr>
          <a:xfrm>
            <a:off x="3611880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…/billing-information</a:t>
            </a:r>
            <a:endParaRPr lang="en-US" sz="950" dirty="0"/>
          </a:p>
        </p:txBody>
      </p:sp>
      <p:sp>
        <p:nvSpPr>
          <p:cNvPr id="17" name="Text 11"/>
          <p:cNvSpPr/>
          <p:nvPr/>
        </p:nvSpPr>
        <p:spPr>
          <a:xfrm>
            <a:off x="3611880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5896</a:t>
            </a:r>
            <a:endParaRPr lang="en-US" sz="1050" dirty="0"/>
          </a:p>
        </p:txBody>
      </p:sp>
      <p:sp>
        <p:nvSpPr>
          <p:cNvPr id="18" name="Text 12"/>
          <p:cNvSpPr/>
          <p:nvPr/>
        </p:nvSpPr>
        <p:spPr>
          <a:xfrm>
            <a:off x="5897880" y="29260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19" name="Shape 13"/>
          <p:cNvSpPr/>
          <p:nvPr/>
        </p:nvSpPr>
        <p:spPr>
          <a:xfrm>
            <a:off x="6163056" y="1920240"/>
            <a:ext cx="2606040" cy="24688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19088" y="2176272"/>
            <a:ext cx="365760" cy="36576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419088" y="2670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</a:t>
            </a:r>
            <a:endParaRPr lang="en-US" sz="1450" dirty="0"/>
          </a:p>
        </p:txBody>
      </p:sp>
      <p:sp>
        <p:nvSpPr>
          <p:cNvPr id="22" name="Text 15"/>
          <p:cNvSpPr/>
          <p:nvPr/>
        </p:nvSpPr>
        <p:spPr>
          <a:xfrm>
            <a:off x="6419088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…/card</a:t>
            </a:r>
            <a:endParaRPr lang="en-US" sz="950" dirty="0"/>
          </a:p>
        </p:txBody>
      </p:sp>
      <p:sp>
        <p:nvSpPr>
          <p:cNvPr id="23" name="Text 16"/>
          <p:cNvSpPr/>
          <p:nvPr/>
        </p:nvSpPr>
        <p:spPr>
          <a:xfrm>
            <a:off x="6419088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id 3414 · token issued</a:t>
            </a:r>
            <a:endParaRPr lang="en-US" sz="1050" dirty="0"/>
          </a:p>
        </p:txBody>
      </p:sp>
      <p:sp>
        <p:nvSpPr>
          <p:cNvPr id="24" name="Text 17"/>
          <p:cNvSpPr/>
          <p:nvPr/>
        </p:nvSpPr>
        <p:spPr>
          <a:xfrm>
            <a:off x="8705088" y="2926080"/>
            <a:ext cx="3108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1BE72"/>
                </a:solidFill>
              </a:rPr>
              <a:t>→</a:t>
            </a:r>
            <a:endParaRPr lang="en-US" sz="1800" dirty="0"/>
          </a:p>
        </p:txBody>
      </p:sp>
      <p:sp>
        <p:nvSpPr>
          <p:cNvPr id="25" name="Shape 18"/>
          <p:cNvSpPr/>
          <p:nvPr/>
        </p:nvSpPr>
        <p:spPr>
          <a:xfrm>
            <a:off x="8970264" y="1920240"/>
            <a:ext cx="2606040" cy="24688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26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26296" y="2176272"/>
            <a:ext cx="365760" cy="365760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9226296" y="2670048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Charge on file</a:t>
            </a:r>
            <a:endParaRPr lang="en-US" sz="1450" dirty="0"/>
          </a:p>
        </p:txBody>
      </p:sp>
      <p:sp>
        <p:nvSpPr>
          <p:cNvPr id="28" name="Text 20"/>
          <p:cNvSpPr/>
          <p:nvPr/>
        </p:nvSpPr>
        <p:spPr>
          <a:xfrm>
            <a:off x="9226296" y="3063240"/>
            <a:ext cx="224028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POST /payment/sale (token)</a:t>
            </a:r>
            <a:endParaRPr lang="en-US" sz="950" dirty="0"/>
          </a:p>
        </p:txBody>
      </p:sp>
      <p:sp>
        <p:nvSpPr>
          <p:cNvPr id="29" name="Text 21"/>
          <p:cNvSpPr/>
          <p:nvPr/>
        </p:nvSpPr>
        <p:spPr>
          <a:xfrm>
            <a:off x="9226296" y="3611880"/>
            <a:ext cx="224028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recurring / MIT</a:t>
            </a:r>
            <a:endParaRPr lang="en-US" sz="1050" dirty="0"/>
          </a:p>
        </p:txBody>
      </p:sp>
      <p:sp>
        <p:nvSpPr>
          <p:cNvPr id="30" name="Shape 22"/>
          <p:cNvSpPr/>
          <p:nvPr/>
        </p:nvSpPr>
        <p:spPr>
          <a:xfrm>
            <a:off x="548640" y="4754880"/>
            <a:ext cx="11091672" cy="603504"/>
          </a:xfrm>
          <a:prstGeom prst="roundRect">
            <a:avLst>
              <a:gd name="adj" fmla="val 12121"/>
            </a:avLst>
          </a:prstGeom>
          <a:solidFill>
            <a:srgbClr val="15171C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31" name="Text 23"/>
          <p:cNvSpPr/>
          <p:nvPr/>
        </p:nvSpPr>
        <p:spPr>
          <a:xfrm>
            <a:off x="777240" y="4754880"/>
            <a:ext cx="10698480" cy="6035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Note:  </a:t>
            </a:r>
            <a:pPr indent="0" marL="0">
              <a:buNone/>
            </a:pPr>
            <a:r>
              <a:rPr lang="en-US" sz="12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card requires a billing record first — the chained flow above was verified live, end to end.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08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Webhooks — signed &amp; reconciled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Every event is verified before it's trusted, then mapped to a Medusa payment action.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5440680" cy="34747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84832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325880" y="2103120"/>
            <a:ext cx="4389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Signature verification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822960" y="269748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Webhook-Signature =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22960" y="3017520"/>
            <a:ext cx="4892040" cy="640080"/>
          </a:xfrm>
          <a:prstGeom prst="roundRect">
            <a:avLst>
              <a:gd name="adj" fmla="val 8571"/>
            </a:avLst>
          </a:prstGeom>
          <a:solidFill>
            <a:srgbClr val="0B0D11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960120" y="3017520"/>
            <a:ext cx="4663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SHA-512( secret + id + module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31BE7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+ action + date )</a:t>
            </a:r>
            <a:endParaRPr lang="en-US" sz="1100" dirty="0"/>
          </a:p>
        </p:txBody>
      </p:sp>
      <p:sp>
        <p:nvSpPr>
          <p:cNvPr id="13" name="Text 8"/>
          <p:cNvSpPr/>
          <p:nvPr/>
        </p:nvSpPr>
        <p:spPr>
          <a:xfrm>
            <a:off x="822960" y="3840480"/>
            <a:ext cx="493776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Recomputed and constant-time compared server-side before any event is accepted. 7 unit tests cover it.</a:t>
            </a:r>
            <a:endParaRPr lang="en-US" sz="1150" dirty="0"/>
          </a:p>
        </p:txBody>
      </p:sp>
      <p:sp>
        <p:nvSpPr>
          <p:cNvPr id="14" name="Shape 9"/>
          <p:cNvSpPr/>
          <p:nvPr/>
        </p:nvSpPr>
        <p:spPr>
          <a:xfrm>
            <a:off x="6199632" y="1828800"/>
            <a:ext cx="5440680" cy="34747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5" name="Text 10"/>
          <p:cNvSpPr/>
          <p:nvPr/>
        </p:nvSpPr>
        <p:spPr>
          <a:xfrm>
            <a:off x="6473952" y="2084832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Event → Medusa action</a:t>
            </a:r>
            <a:endParaRPr lang="en-US" sz="15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73952" y="2761488"/>
            <a:ext cx="201168" cy="201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84848" y="269748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transaction/create</a:t>
            </a:r>
            <a:endParaRPr lang="en-US" sz="1000" dirty="0"/>
          </a:p>
        </p:txBody>
      </p:sp>
      <p:sp>
        <p:nvSpPr>
          <p:cNvPr id="18" name="Text 12"/>
          <p:cNvSpPr/>
          <p:nvPr/>
        </p:nvSpPr>
        <p:spPr>
          <a:xfrm>
            <a:off x="9601200" y="269748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authorized / captured</a:t>
            </a:r>
            <a:endParaRPr lang="en-US" sz="10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3952" y="3264408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6784848" y="320040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transaction/refund</a:t>
            </a:r>
            <a:endParaRPr lang="en-US" sz="1000" dirty="0"/>
          </a:p>
        </p:txBody>
      </p:sp>
      <p:sp>
        <p:nvSpPr>
          <p:cNvPr id="21" name="Text 14"/>
          <p:cNvSpPr/>
          <p:nvPr/>
        </p:nvSpPr>
        <p:spPr>
          <a:xfrm>
            <a:off x="9601200" y="320040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captured (refund)</a:t>
            </a:r>
            <a:endParaRPr lang="en-US" sz="10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73952" y="3767328"/>
            <a:ext cx="201168" cy="20116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6784848" y="370332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ach/updateStatus · Settled</a:t>
            </a:r>
            <a:endParaRPr lang="en-US" sz="1000" dirty="0"/>
          </a:p>
        </p:txBody>
      </p:sp>
      <p:sp>
        <p:nvSpPr>
          <p:cNvPr id="24" name="Text 16"/>
          <p:cNvSpPr/>
          <p:nvPr/>
        </p:nvSpPr>
        <p:spPr>
          <a:xfrm>
            <a:off x="9601200" y="370332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captured</a:t>
            </a:r>
            <a:endParaRPr lang="en-US" sz="10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73952" y="4270248"/>
            <a:ext cx="201168" cy="201168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784848" y="420624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ach/updateStatus · Returned</a:t>
            </a:r>
            <a:endParaRPr lang="en-US" sz="1000" dirty="0"/>
          </a:p>
        </p:txBody>
      </p:sp>
      <p:sp>
        <p:nvSpPr>
          <p:cNvPr id="27" name="Text 18"/>
          <p:cNvSpPr/>
          <p:nvPr/>
        </p:nvSpPr>
        <p:spPr>
          <a:xfrm>
            <a:off x="9601200" y="420624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failed + reverse</a:t>
            </a:r>
            <a:endParaRPr lang="en-US" sz="1000" dirty="0"/>
          </a:p>
        </p:txBody>
      </p:sp>
      <p:pic>
        <p:nvPicPr>
          <p:cNvPr id="2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473952" y="4773168"/>
            <a:ext cx="201168" cy="201168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6784848" y="4709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7A9E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chargeback/create</a:t>
            </a:r>
            <a:endParaRPr lang="en-US" sz="1000" dirty="0"/>
          </a:p>
        </p:txBody>
      </p:sp>
      <p:sp>
        <p:nvSpPr>
          <p:cNvPr id="30" name="Text 20"/>
          <p:cNvSpPr/>
          <p:nvPr/>
        </p:nvSpPr>
        <p:spPr>
          <a:xfrm>
            <a:off x="9601200" y="4709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→ flag for review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What's available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= executed on sandbox in this build.  Available = documented &amp; supported, ready to wire.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783080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" y="1929384"/>
            <a:ext cx="219456" cy="219456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051560" y="1783080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Fields (SAQ-A)</a:t>
            </a:r>
            <a:endParaRPr lang="en-US" sz="1150" dirty="0"/>
          </a:p>
        </p:txBody>
      </p:sp>
      <p:sp>
        <p:nvSpPr>
          <p:cNvPr id="10" name="Shape 5"/>
          <p:cNvSpPr/>
          <p:nvPr/>
        </p:nvSpPr>
        <p:spPr>
          <a:xfrm>
            <a:off x="4764024" y="189280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11" name="Text 6"/>
          <p:cNvSpPr/>
          <p:nvPr/>
        </p:nvSpPr>
        <p:spPr>
          <a:xfrm>
            <a:off x="4764024" y="18928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12" name="Shape 7"/>
          <p:cNvSpPr/>
          <p:nvPr/>
        </p:nvSpPr>
        <p:spPr>
          <a:xfrm>
            <a:off x="6089904" y="1783080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72784" y="1929384"/>
            <a:ext cx="219456" cy="21945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6592824" y="1783080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auth / sale</a:t>
            </a:r>
            <a:endParaRPr lang="en-US" sz="1150" dirty="0"/>
          </a:p>
        </p:txBody>
      </p:sp>
      <p:sp>
        <p:nvSpPr>
          <p:cNvPr id="15" name="Shape 9"/>
          <p:cNvSpPr/>
          <p:nvPr/>
        </p:nvSpPr>
        <p:spPr>
          <a:xfrm>
            <a:off x="10305288" y="189280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16" name="Text 10"/>
          <p:cNvSpPr/>
          <p:nvPr/>
        </p:nvSpPr>
        <p:spPr>
          <a:xfrm>
            <a:off x="10305288" y="189280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17" name="Shape 11"/>
          <p:cNvSpPr/>
          <p:nvPr/>
        </p:nvSpPr>
        <p:spPr>
          <a:xfrm>
            <a:off x="548640" y="2313432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" y="2459736"/>
            <a:ext cx="219456" cy="21945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051560" y="2313432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Capture (full/partial/multi)</a:t>
            </a:r>
            <a:endParaRPr lang="en-US" sz="1150" dirty="0"/>
          </a:p>
        </p:txBody>
      </p:sp>
      <p:sp>
        <p:nvSpPr>
          <p:cNvPr id="20" name="Shape 13"/>
          <p:cNvSpPr/>
          <p:nvPr/>
        </p:nvSpPr>
        <p:spPr>
          <a:xfrm>
            <a:off x="4764024" y="24231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21" name="Text 14"/>
          <p:cNvSpPr/>
          <p:nvPr/>
        </p:nvSpPr>
        <p:spPr>
          <a:xfrm>
            <a:off x="4764024" y="2423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22" name="Shape 15"/>
          <p:cNvSpPr/>
          <p:nvPr/>
        </p:nvSpPr>
        <p:spPr>
          <a:xfrm>
            <a:off x="6089904" y="2313432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2784" y="2459736"/>
            <a:ext cx="219456" cy="219456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592824" y="2313432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Refund / void / reversal</a:t>
            </a:r>
            <a:endParaRPr lang="en-US" sz="1150" dirty="0"/>
          </a:p>
        </p:txBody>
      </p:sp>
      <p:sp>
        <p:nvSpPr>
          <p:cNvPr id="25" name="Shape 17"/>
          <p:cNvSpPr/>
          <p:nvPr/>
        </p:nvSpPr>
        <p:spPr>
          <a:xfrm>
            <a:off x="10305288" y="242316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26" name="Text 18"/>
          <p:cNvSpPr/>
          <p:nvPr/>
        </p:nvSpPr>
        <p:spPr>
          <a:xfrm>
            <a:off x="10305288" y="242316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27" name="Shape 19"/>
          <p:cNvSpPr/>
          <p:nvPr/>
        </p:nvSpPr>
        <p:spPr>
          <a:xfrm>
            <a:off x="548640" y="2843784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20" y="2990088"/>
            <a:ext cx="219456" cy="219456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1051560" y="2843784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Tokenize / saved-card charge</a:t>
            </a:r>
            <a:endParaRPr lang="en-US" sz="1150" dirty="0"/>
          </a:p>
        </p:txBody>
      </p:sp>
      <p:sp>
        <p:nvSpPr>
          <p:cNvPr id="30" name="Shape 21"/>
          <p:cNvSpPr/>
          <p:nvPr/>
        </p:nvSpPr>
        <p:spPr>
          <a:xfrm>
            <a:off x="4764024" y="2953512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31" name="Text 22"/>
          <p:cNvSpPr/>
          <p:nvPr/>
        </p:nvSpPr>
        <p:spPr>
          <a:xfrm>
            <a:off x="4764024" y="295351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32" name="Shape 23"/>
          <p:cNvSpPr/>
          <p:nvPr/>
        </p:nvSpPr>
        <p:spPr>
          <a:xfrm>
            <a:off x="6089904" y="2843784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3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2784" y="2990088"/>
            <a:ext cx="219456" cy="219456"/>
          </a:xfrm>
          <a:prstGeom prst="rect">
            <a:avLst/>
          </a:prstGeom>
        </p:spPr>
      </p:pic>
      <p:sp>
        <p:nvSpPr>
          <p:cNvPr id="34" name="Text 24"/>
          <p:cNvSpPr/>
          <p:nvPr/>
        </p:nvSpPr>
        <p:spPr>
          <a:xfrm>
            <a:off x="6592824" y="2843784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Zero-dollar verify</a:t>
            </a:r>
            <a:endParaRPr lang="en-US" sz="1150" dirty="0"/>
          </a:p>
        </p:txBody>
      </p:sp>
      <p:sp>
        <p:nvSpPr>
          <p:cNvPr id="35" name="Shape 25"/>
          <p:cNvSpPr/>
          <p:nvPr/>
        </p:nvSpPr>
        <p:spPr>
          <a:xfrm>
            <a:off x="10305288" y="2953512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36" name="Text 26"/>
          <p:cNvSpPr/>
          <p:nvPr/>
        </p:nvSpPr>
        <p:spPr>
          <a:xfrm>
            <a:off x="10305288" y="2953512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37" name="Shape 27"/>
          <p:cNvSpPr/>
          <p:nvPr/>
        </p:nvSpPr>
        <p:spPr>
          <a:xfrm>
            <a:off x="548640" y="3374136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3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31520" y="3520440"/>
            <a:ext cx="219456" cy="219456"/>
          </a:xfrm>
          <a:prstGeom prst="rect">
            <a:avLst/>
          </a:prstGeom>
        </p:spPr>
      </p:pic>
      <p:sp>
        <p:nvSpPr>
          <p:cNvPr id="39" name="Text 28"/>
          <p:cNvSpPr/>
          <p:nvPr/>
        </p:nvSpPr>
        <p:spPr>
          <a:xfrm>
            <a:off x="1051560" y="3374136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debit / credit</a:t>
            </a:r>
            <a:endParaRPr lang="en-US" sz="1150" dirty="0"/>
          </a:p>
        </p:txBody>
      </p:sp>
      <p:sp>
        <p:nvSpPr>
          <p:cNvPr id="40" name="Shape 29"/>
          <p:cNvSpPr/>
          <p:nvPr/>
        </p:nvSpPr>
        <p:spPr>
          <a:xfrm>
            <a:off x="4764024" y="3483864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41" name="Text 30"/>
          <p:cNvSpPr/>
          <p:nvPr/>
        </p:nvSpPr>
        <p:spPr>
          <a:xfrm>
            <a:off x="4764024" y="34838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42" name="Shape 31"/>
          <p:cNvSpPr/>
          <p:nvPr/>
        </p:nvSpPr>
        <p:spPr>
          <a:xfrm>
            <a:off x="6089904" y="3374136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272784" y="3520440"/>
            <a:ext cx="219456" cy="21945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6592824" y="3374136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void / cancel / verify</a:t>
            </a:r>
            <a:endParaRPr lang="en-US" sz="1150" dirty="0"/>
          </a:p>
        </p:txBody>
      </p:sp>
      <p:sp>
        <p:nvSpPr>
          <p:cNvPr id="45" name="Shape 33"/>
          <p:cNvSpPr/>
          <p:nvPr/>
        </p:nvSpPr>
        <p:spPr>
          <a:xfrm>
            <a:off x="10305288" y="3483864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46" name="Text 34"/>
          <p:cNvSpPr/>
          <p:nvPr/>
        </p:nvSpPr>
        <p:spPr>
          <a:xfrm>
            <a:off x="10305288" y="3483864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47" name="Shape 35"/>
          <p:cNvSpPr/>
          <p:nvPr/>
        </p:nvSpPr>
        <p:spPr>
          <a:xfrm>
            <a:off x="548640" y="3904488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48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1520" y="4050792"/>
            <a:ext cx="219456" cy="219456"/>
          </a:xfrm>
          <a:prstGeom prst="rect">
            <a:avLst/>
          </a:prstGeom>
        </p:spPr>
      </p:pic>
      <p:sp>
        <p:nvSpPr>
          <p:cNvPr id="49" name="Text 36"/>
          <p:cNvSpPr/>
          <p:nvPr/>
        </p:nvSpPr>
        <p:spPr>
          <a:xfrm>
            <a:off x="1051560" y="3904488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Vault (cust/bill/card)</a:t>
            </a:r>
            <a:endParaRPr lang="en-US" sz="1150" dirty="0"/>
          </a:p>
        </p:txBody>
      </p:sp>
      <p:sp>
        <p:nvSpPr>
          <p:cNvPr id="50" name="Shape 37"/>
          <p:cNvSpPr/>
          <p:nvPr/>
        </p:nvSpPr>
        <p:spPr>
          <a:xfrm>
            <a:off x="4764024" y="4014216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51" name="Text 38"/>
          <p:cNvSpPr/>
          <p:nvPr/>
        </p:nvSpPr>
        <p:spPr>
          <a:xfrm>
            <a:off x="4764024" y="40142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</a:t>
            </a:r>
            <a:endParaRPr lang="en-US" sz="900" dirty="0"/>
          </a:p>
        </p:txBody>
      </p:sp>
      <p:sp>
        <p:nvSpPr>
          <p:cNvPr id="52" name="Shape 39"/>
          <p:cNvSpPr/>
          <p:nvPr/>
        </p:nvSpPr>
        <p:spPr>
          <a:xfrm>
            <a:off x="6089904" y="3904488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53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272784" y="4050792"/>
            <a:ext cx="219456" cy="219456"/>
          </a:xfrm>
          <a:prstGeom prst="rect">
            <a:avLst/>
          </a:prstGeom>
        </p:spPr>
      </p:pic>
      <p:sp>
        <p:nvSpPr>
          <p:cNvPr id="54" name="Text 40"/>
          <p:cNvSpPr/>
          <p:nvPr/>
        </p:nvSpPr>
        <p:spPr>
          <a:xfrm>
            <a:off x="6592824" y="3904488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Webhooks (signed)</a:t>
            </a:r>
            <a:endParaRPr lang="en-US" sz="1150" dirty="0"/>
          </a:p>
        </p:txBody>
      </p:sp>
      <p:sp>
        <p:nvSpPr>
          <p:cNvPr id="55" name="Shape 41"/>
          <p:cNvSpPr/>
          <p:nvPr/>
        </p:nvSpPr>
        <p:spPr>
          <a:xfrm>
            <a:off x="10305288" y="4014216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0E2B1C"/>
          </a:solidFill>
          <a:ln/>
        </p:spPr>
      </p:sp>
      <p:sp>
        <p:nvSpPr>
          <p:cNvPr id="56" name="Text 42"/>
          <p:cNvSpPr/>
          <p:nvPr/>
        </p:nvSpPr>
        <p:spPr>
          <a:xfrm>
            <a:off x="10305288" y="4014216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Verified</a:t>
            </a:r>
            <a:endParaRPr lang="en-US" sz="900" dirty="0"/>
          </a:p>
        </p:txBody>
      </p:sp>
      <p:sp>
        <p:nvSpPr>
          <p:cNvPr id="57" name="Shape 43"/>
          <p:cNvSpPr/>
          <p:nvPr/>
        </p:nvSpPr>
        <p:spPr>
          <a:xfrm>
            <a:off x="548640" y="4434840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58" name="Image 12" descr="preencoded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31520" y="4581144"/>
            <a:ext cx="219456" cy="219456"/>
          </a:xfrm>
          <a:prstGeom prst="rect">
            <a:avLst/>
          </a:prstGeom>
        </p:spPr>
      </p:pic>
      <p:sp>
        <p:nvSpPr>
          <p:cNvPr id="59" name="Text 44"/>
          <p:cNvSpPr/>
          <p:nvPr/>
        </p:nvSpPr>
        <p:spPr>
          <a:xfrm>
            <a:off x="1051560" y="4434840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3D Secure</a:t>
            </a:r>
            <a:endParaRPr lang="en-US" sz="1150" dirty="0"/>
          </a:p>
        </p:txBody>
      </p:sp>
      <p:sp>
        <p:nvSpPr>
          <p:cNvPr id="60" name="Shape 45"/>
          <p:cNvSpPr/>
          <p:nvPr/>
        </p:nvSpPr>
        <p:spPr>
          <a:xfrm>
            <a:off x="4764024" y="454456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26221A"/>
          </a:solidFill>
          <a:ln/>
        </p:spPr>
      </p:sp>
      <p:sp>
        <p:nvSpPr>
          <p:cNvPr id="61" name="Text 46"/>
          <p:cNvSpPr/>
          <p:nvPr/>
        </p:nvSpPr>
        <p:spPr>
          <a:xfrm>
            <a:off x="4764024" y="4544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9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</a:t>
            </a:r>
            <a:endParaRPr lang="en-US" sz="900" dirty="0"/>
          </a:p>
        </p:txBody>
      </p:sp>
      <p:sp>
        <p:nvSpPr>
          <p:cNvPr id="62" name="Shape 47"/>
          <p:cNvSpPr/>
          <p:nvPr/>
        </p:nvSpPr>
        <p:spPr>
          <a:xfrm>
            <a:off x="6089904" y="4434840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63" name="Image 13" descr="preencoded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272784" y="4581144"/>
            <a:ext cx="219456" cy="219456"/>
          </a:xfrm>
          <a:prstGeom prst="rect">
            <a:avLst/>
          </a:prstGeom>
        </p:spPr>
      </p:pic>
      <p:sp>
        <p:nvSpPr>
          <p:cNvPr id="64" name="Text 48"/>
          <p:cNvSpPr/>
          <p:nvPr/>
        </p:nvSpPr>
        <p:spPr>
          <a:xfrm>
            <a:off x="6592824" y="4434840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Account Updater</a:t>
            </a:r>
            <a:endParaRPr lang="en-US" sz="1150" dirty="0"/>
          </a:p>
        </p:txBody>
      </p:sp>
      <p:sp>
        <p:nvSpPr>
          <p:cNvPr id="65" name="Shape 49"/>
          <p:cNvSpPr/>
          <p:nvPr/>
        </p:nvSpPr>
        <p:spPr>
          <a:xfrm>
            <a:off x="10305288" y="4544568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26221A"/>
          </a:solidFill>
          <a:ln/>
        </p:spPr>
      </p:sp>
      <p:sp>
        <p:nvSpPr>
          <p:cNvPr id="66" name="Text 50"/>
          <p:cNvSpPr/>
          <p:nvPr/>
        </p:nvSpPr>
        <p:spPr>
          <a:xfrm>
            <a:off x="10305288" y="4544568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9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</a:t>
            </a:r>
            <a:endParaRPr lang="en-US" sz="900" dirty="0"/>
          </a:p>
        </p:txBody>
      </p:sp>
      <p:sp>
        <p:nvSpPr>
          <p:cNvPr id="67" name="Shape 51"/>
          <p:cNvSpPr/>
          <p:nvPr/>
        </p:nvSpPr>
        <p:spPr>
          <a:xfrm>
            <a:off x="548640" y="4965192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68" name="Image 14" descr="preencoded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31520" y="5111496"/>
            <a:ext cx="219456" cy="219456"/>
          </a:xfrm>
          <a:prstGeom prst="rect">
            <a:avLst/>
          </a:prstGeom>
        </p:spPr>
      </p:pic>
      <p:sp>
        <p:nvSpPr>
          <p:cNvPr id="69" name="Text 52"/>
          <p:cNvSpPr/>
          <p:nvPr/>
        </p:nvSpPr>
        <p:spPr>
          <a:xfrm>
            <a:off x="1051560" y="4965192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Chargebacks / reporting</a:t>
            </a:r>
            <a:endParaRPr lang="en-US" sz="1150" dirty="0"/>
          </a:p>
        </p:txBody>
      </p:sp>
      <p:sp>
        <p:nvSpPr>
          <p:cNvPr id="70" name="Shape 53"/>
          <p:cNvSpPr/>
          <p:nvPr/>
        </p:nvSpPr>
        <p:spPr>
          <a:xfrm>
            <a:off x="4764024" y="50749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26221A"/>
          </a:solidFill>
          <a:ln/>
        </p:spPr>
      </p:sp>
      <p:sp>
        <p:nvSpPr>
          <p:cNvPr id="71" name="Text 54"/>
          <p:cNvSpPr/>
          <p:nvPr/>
        </p:nvSpPr>
        <p:spPr>
          <a:xfrm>
            <a:off x="4764024" y="50749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9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</a:t>
            </a:r>
            <a:endParaRPr lang="en-US" sz="900" dirty="0"/>
          </a:p>
        </p:txBody>
      </p:sp>
      <p:sp>
        <p:nvSpPr>
          <p:cNvPr id="72" name="Shape 55"/>
          <p:cNvSpPr/>
          <p:nvPr/>
        </p:nvSpPr>
        <p:spPr>
          <a:xfrm>
            <a:off x="6089904" y="4965192"/>
            <a:ext cx="5431536" cy="457200"/>
          </a:xfrm>
          <a:prstGeom prst="rect">
            <a:avLst/>
          </a:prstGeom>
          <a:solidFill>
            <a:srgbClr val="171A1F"/>
          </a:solidFill>
          <a:ln w="6350">
            <a:solidFill>
              <a:srgbClr val="2A2E35"/>
            </a:solidFill>
            <a:prstDash val="solid"/>
          </a:ln>
        </p:spPr>
      </p:sp>
      <p:pic>
        <p:nvPicPr>
          <p:cNvPr id="73" name="Image 15" descr="preencoded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6272784" y="5111496"/>
            <a:ext cx="219456" cy="219456"/>
          </a:xfrm>
          <a:prstGeom prst="rect">
            <a:avLst/>
          </a:prstGeom>
        </p:spPr>
      </p:pic>
      <p:sp>
        <p:nvSpPr>
          <p:cNvPr id="74" name="Text 56"/>
          <p:cNvSpPr/>
          <p:nvPr/>
        </p:nvSpPr>
        <p:spPr>
          <a:xfrm>
            <a:off x="6592824" y="4965192"/>
            <a:ext cx="36210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Recurring billing</a:t>
            </a:r>
            <a:endParaRPr lang="en-US" sz="1150" dirty="0"/>
          </a:p>
        </p:txBody>
      </p:sp>
      <p:sp>
        <p:nvSpPr>
          <p:cNvPr id="75" name="Shape 57"/>
          <p:cNvSpPr/>
          <p:nvPr/>
        </p:nvSpPr>
        <p:spPr>
          <a:xfrm>
            <a:off x="10305288" y="5074920"/>
            <a:ext cx="1051560" cy="274320"/>
          </a:xfrm>
          <a:prstGeom prst="roundRect">
            <a:avLst>
              <a:gd name="adj" fmla="val 20000"/>
            </a:avLst>
          </a:prstGeom>
          <a:solidFill>
            <a:srgbClr val="26221A"/>
          </a:solidFill>
          <a:ln/>
        </p:spPr>
      </p:sp>
      <p:sp>
        <p:nvSpPr>
          <p:cNvPr id="76" name="Text 58"/>
          <p:cNvSpPr/>
          <p:nvPr/>
        </p:nvSpPr>
        <p:spPr>
          <a:xfrm>
            <a:off x="10305288" y="5074920"/>
            <a:ext cx="10515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E0A93B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Available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Proven against the live sandbox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Built with a reference fact-checker, then run end-to-end on real Kadima infrastructure.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3529584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Text 4"/>
          <p:cNvSpPr/>
          <p:nvPr/>
        </p:nvSpPr>
        <p:spPr>
          <a:xfrm>
            <a:off x="548640" y="1965960"/>
            <a:ext cx="3529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12 / 13</a:t>
            </a:r>
            <a:endParaRPr lang="en-US" sz="4000" dirty="0"/>
          </a:p>
        </p:txBody>
      </p:sp>
      <p:sp>
        <p:nvSpPr>
          <p:cNvPr id="9" name="Text 5"/>
          <p:cNvSpPr/>
          <p:nvPr/>
        </p:nvSpPr>
        <p:spPr>
          <a:xfrm>
            <a:off x="731520" y="27889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operations succeeded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(the 1 was a correct decline)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4325112" y="1828800"/>
            <a:ext cx="3529584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1" name="Text 7"/>
          <p:cNvSpPr/>
          <p:nvPr/>
        </p:nvSpPr>
        <p:spPr>
          <a:xfrm>
            <a:off x="4325112" y="1965960"/>
            <a:ext cx="3529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50+</a:t>
            </a:r>
            <a:endParaRPr lang="en-US" sz="4000" dirty="0"/>
          </a:p>
        </p:txBody>
      </p:sp>
      <p:sp>
        <p:nvSpPr>
          <p:cNvPr id="12" name="Text 8"/>
          <p:cNvSpPr/>
          <p:nvPr/>
        </p:nvSpPr>
        <p:spPr>
          <a:xfrm>
            <a:off x="4507992" y="27889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API-shape claims verified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against the canonical reference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8101584" y="1828800"/>
            <a:ext cx="3529584" cy="155448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4" name="Text 10"/>
          <p:cNvSpPr/>
          <p:nvPr/>
        </p:nvSpPr>
        <p:spPr>
          <a:xfrm>
            <a:off x="8101584" y="1965960"/>
            <a:ext cx="3529584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0</a:t>
            </a:r>
            <a:endParaRPr lang="en-US" sz="4000" dirty="0"/>
          </a:p>
        </p:txBody>
      </p:sp>
      <p:sp>
        <p:nvSpPr>
          <p:cNvPr id="15" name="Text 11"/>
          <p:cNvSpPr/>
          <p:nvPr/>
        </p:nvSpPr>
        <p:spPr>
          <a:xfrm>
            <a:off x="8284464" y="2788920"/>
            <a:ext cx="316382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numbers touched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our backend (SAQ-A)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548640" y="3657600"/>
            <a:ext cx="11091672" cy="233172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822960" y="38404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Bugs the verifier caught before they shipped</a:t>
            </a:r>
            <a:endParaRPr lang="en-US" sz="14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4315968"/>
            <a:ext cx="201168" cy="20116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88720" y="4261104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SEC field is SECCode (not secCode); bank fields are top-level, not nested</a:t>
            </a:r>
            <a:endParaRPr lang="en-US" sz="1150" dirty="0"/>
          </a:p>
        </p:txBody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700016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188720" y="4645152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Card-vault customer id is identificator; ACH customer id is identifier</a:t>
            </a:r>
            <a:endParaRPr lang="en-US" sz="115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8680" y="5084064"/>
            <a:ext cx="201168" cy="20116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188720" y="5029200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Fields token uses a flat terminal, not nested terminal.id</a:t>
            </a:r>
            <a:endParaRPr lang="en-US" sz="11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8680" y="5468112"/>
            <a:ext cx="201168" cy="201168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1188720" y="5413248"/>
            <a:ext cx="10241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Adding a vault card requires creating a billing record first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6400800"/>
            <a:ext cx="877824" cy="2011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1274552" y="6327648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1"/>
          <p:cNvSpPr/>
          <p:nvPr/>
        </p:nvSpPr>
        <p:spPr>
          <a:xfrm>
            <a:off x="548640" y="47548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 branded console to drive it all</a:t>
            </a:r>
            <a:endParaRPr lang="en-US" sz="3000" dirty="0"/>
          </a:p>
        </p:txBody>
      </p:sp>
      <p:sp>
        <p:nvSpPr>
          <p:cNvPr id="6" name="Text 2"/>
          <p:cNvSpPr/>
          <p:nvPr/>
        </p:nvSpPr>
        <p:spPr>
          <a:xfrm>
            <a:off x="566928" y="1078992"/>
            <a:ext cx="1090879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Kadima-styled, ready to fold into the ops dashboard. The token stays server-side.</a:t>
            </a:r>
            <a:endParaRPr lang="en-US" sz="1350" dirty="0"/>
          </a:p>
        </p:txBody>
      </p:sp>
      <p:sp>
        <p:nvSpPr>
          <p:cNvPr id="7" name="Shape 3"/>
          <p:cNvSpPr/>
          <p:nvPr/>
        </p:nvSpPr>
        <p:spPr>
          <a:xfrm>
            <a:off x="548640" y="1828800"/>
            <a:ext cx="11091672" cy="4023360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  <a:effectLst>
            <a:outerShdw sx="100000" sy="100000" kx="0" ky="0" algn="bl" rotWithShape="0" blurRad="114300" dist="38100" dir="8100000">
              <a:srgbClr val="000000">
                <a:alpha val="45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548640" y="1828800"/>
            <a:ext cx="2377440" cy="4023360"/>
          </a:xfrm>
          <a:prstGeom prst="rect">
            <a:avLst/>
          </a:prstGeom>
          <a:solidFill>
            <a:srgbClr val="15171C"/>
          </a:solidFill>
          <a:ln w="12700">
            <a:solidFill>
              <a:srgbClr val="2A2E35"/>
            </a:solidFill>
            <a:prstDash val="solid"/>
          </a:ln>
        </p:spPr>
      </p:sp>
      <p:pic>
        <p:nvPicPr>
          <p:cNvPr id="9" name="Image 2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2084832"/>
            <a:ext cx="1005840" cy="237744"/>
          </a:xfrm>
          <a:prstGeom prst="rect">
            <a:avLst/>
          </a:prstGeom>
        </p:spPr>
      </p:pic>
      <p:sp>
        <p:nvSpPr>
          <p:cNvPr id="10" name="Shape 5"/>
          <p:cNvSpPr/>
          <p:nvPr/>
        </p:nvSpPr>
        <p:spPr>
          <a:xfrm>
            <a:off x="1828800" y="2103120"/>
            <a:ext cx="777240" cy="237744"/>
          </a:xfrm>
          <a:prstGeom prst="roundRect">
            <a:avLst>
              <a:gd name="adj" fmla="val 23077"/>
            </a:avLst>
          </a:prstGeom>
          <a:solidFill>
            <a:srgbClr val="0E2B1C"/>
          </a:solidFill>
          <a:ln/>
        </p:spPr>
      </p:sp>
      <p:sp>
        <p:nvSpPr>
          <p:cNvPr id="11" name="Text 6"/>
          <p:cNvSpPr/>
          <p:nvPr/>
        </p:nvSpPr>
        <p:spPr>
          <a:xfrm>
            <a:off x="1828800" y="2103120"/>
            <a:ext cx="7772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SANDBOX</a:t>
            </a:r>
            <a:endParaRPr lang="en-US" sz="750" dirty="0"/>
          </a:p>
        </p:txBody>
      </p:sp>
      <p:sp>
        <p:nvSpPr>
          <p:cNvPr id="12" name="Shape 7"/>
          <p:cNvSpPr/>
          <p:nvPr/>
        </p:nvSpPr>
        <p:spPr>
          <a:xfrm>
            <a:off x="713232" y="2606040"/>
            <a:ext cx="2057400" cy="384048"/>
          </a:xfrm>
          <a:prstGeom prst="roundRect">
            <a:avLst>
              <a:gd name="adj" fmla="val 11905"/>
            </a:avLst>
          </a:prstGeom>
          <a:solidFill>
            <a:srgbClr val="12241A"/>
          </a:solidFill>
          <a:ln/>
        </p:spPr>
      </p:sp>
      <p:sp>
        <p:nvSpPr>
          <p:cNvPr id="13" name="Text 8"/>
          <p:cNvSpPr/>
          <p:nvPr/>
        </p:nvSpPr>
        <p:spPr>
          <a:xfrm>
            <a:off x="868680" y="2606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Overview</a:t>
            </a:r>
            <a:endParaRPr lang="en-US" sz="1150" dirty="0"/>
          </a:p>
        </p:txBody>
      </p:sp>
      <p:sp>
        <p:nvSpPr>
          <p:cNvPr id="14" name="Text 9"/>
          <p:cNvSpPr/>
          <p:nvPr/>
        </p:nvSpPr>
        <p:spPr>
          <a:xfrm>
            <a:off x="868680" y="30632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Fields</a:t>
            </a:r>
            <a:endParaRPr lang="en-US" sz="1150" dirty="0"/>
          </a:p>
        </p:txBody>
      </p:sp>
      <p:sp>
        <p:nvSpPr>
          <p:cNvPr id="15" name="Text 10"/>
          <p:cNvSpPr/>
          <p:nvPr/>
        </p:nvSpPr>
        <p:spPr>
          <a:xfrm>
            <a:off x="868680" y="35204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(S2S)</a:t>
            </a:r>
            <a:endParaRPr lang="en-US" sz="1150" dirty="0"/>
          </a:p>
        </p:txBody>
      </p:sp>
      <p:sp>
        <p:nvSpPr>
          <p:cNvPr id="16" name="Text 11"/>
          <p:cNvSpPr/>
          <p:nvPr/>
        </p:nvSpPr>
        <p:spPr>
          <a:xfrm>
            <a:off x="868680" y="39776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/ eCheck</a:t>
            </a:r>
            <a:endParaRPr lang="en-US" sz="1150" dirty="0"/>
          </a:p>
        </p:txBody>
      </p:sp>
      <p:sp>
        <p:nvSpPr>
          <p:cNvPr id="17" name="Text 12"/>
          <p:cNvSpPr/>
          <p:nvPr/>
        </p:nvSpPr>
        <p:spPr>
          <a:xfrm>
            <a:off x="868680" y="44348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Vault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868680" y="4892040"/>
            <a:ext cx="1920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8A93A0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3200400" y="2240280"/>
            <a:ext cx="2542032" cy="1481328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3200400" y="2240280"/>
            <a:ext cx="2542032" cy="36576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01568" y="2459736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3401568" y="28437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Hosted Fields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3401568" y="324612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0E2B1C"/>
          </a:solidFill>
          <a:ln/>
        </p:spPr>
      </p:sp>
      <p:sp>
        <p:nvSpPr>
          <p:cNvPr id="24" name="Text 18"/>
          <p:cNvSpPr/>
          <p:nvPr/>
        </p:nvSpPr>
        <p:spPr>
          <a:xfrm>
            <a:off x="3401568" y="32461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TESTED</a:t>
            </a:r>
            <a:endParaRPr lang="en-US" sz="650" dirty="0"/>
          </a:p>
        </p:txBody>
      </p:sp>
      <p:sp>
        <p:nvSpPr>
          <p:cNvPr id="25" name="Shape 19"/>
          <p:cNvSpPr/>
          <p:nvPr/>
        </p:nvSpPr>
        <p:spPr>
          <a:xfrm>
            <a:off x="5943600" y="2240280"/>
            <a:ext cx="2542032" cy="1481328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26" name="Shape 20"/>
          <p:cNvSpPr/>
          <p:nvPr/>
        </p:nvSpPr>
        <p:spPr>
          <a:xfrm>
            <a:off x="5943600" y="2240280"/>
            <a:ext cx="2542032" cy="36576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4768" y="2459736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6144768" y="28437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Auth / Sale / Capture</a:t>
            </a:r>
            <a:endParaRPr lang="en-US" sz="1200" dirty="0"/>
          </a:p>
        </p:txBody>
      </p:sp>
      <p:sp>
        <p:nvSpPr>
          <p:cNvPr id="29" name="Shape 22"/>
          <p:cNvSpPr/>
          <p:nvPr/>
        </p:nvSpPr>
        <p:spPr>
          <a:xfrm>
            <a:off x="6144768" y="324612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0E2B1C"/>
          </a:solidFill>
          <a:ln/>
        </p:spPr>
      </p:sp>
      <p:sp>
        <p:nvSpPr>
          <p:cNvPr id="30" name="Text 23"/>
          <p:cNvSpPr/>
          <p:nvPr/>
        </p:nvSpPr>
        <p:spPr>
          <a:xfrm>
            <a:off x="6144768" y="32461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TESTED</a:t>
            </a:r>
            <a:endParaRPr lang="en-US" sz="650" dirty="0"/>
          </a:p>
        </p:txBody>
      </p:sp>
      <p:sp>
        <p:nvSpPr>
          <p:cNvPr id="31" name="Shape 24"/>
          <p:cNvSpPr/>
          <p:nvPr/>
        </p:nvSpPr>
        <p:spPr>
          <a:xfrm>
            <a:off x="8686800" y="2240280"/>
            <a:ext cx="2542032" cy="1481328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8686800" y="2240280"/>
            <a:ext cx="2542032" cy="36576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87968" y="2459736"/>
            <a:ext cx="310896" cy="310896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8887968" y="284378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Refund / Reversal</a:t>
            </a:r>
            <a:endParaRPr lang="en-US" sz="1200" dirty="0"/>
          </a:p>
        </p:txBody>
      </p:sp>
      <p:sp>
        <p:nvSpPr>
          <p:cNvPr id="35" name="Shape 27"/>
          <p:cNvSpPr/>
          <p:nvPr/>
        </p:nvSpPr>
        <p:spPr>
          <a:xfrm>
            <a:off x="8887968" y="324612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0E2B1C"/>
          </a:solidFill>
          <a:ln/>
        </p:spPr>
      </p:sp>
      <p:sp>
        <p:nvSpPr>
          <p:cNvPr id="36" name="Text 28"/>
          <p:cNvSpPr/>
          <p:nvPr/>
        </p:nvSpPr>
        <p:spPr>
          <a:xfrm>
            <a:off x="8887968" y="324612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TESTED</a:t>
            </a:r>
            <a:endParaRPr lang="en-US" sz="650" dirty="0"/>
          </a:p>
        </p:txBody>
      </p:sp>
      <p:sp>
        <p:nvSpPr>
          <p:cNvPr id="37" name="Shape 29"/>
          <p:cNvSpPr/>
          <p:nvPr/>
        </p:nvSpPr>
        <p:spPr>
          <a:xfrm>
            <a:off x="3200400" y="3931920"/>
            <a:ext cx="2542032" cy="1481328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38" name="Shape 30"/>
          <p:cNvSpPr/>
          <p:nvPr/>
        </p:nvSpPr>
        <p:spPr>
          <a:xfrm>
            <a:off x="3200400" y="3931920"/>
            <a:ext cx="2542032" cy="36576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3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01568" y="4151376"/>
            <a:ext cx="310896" cy="310896"/>
          </a:xfrm>
          <a:prstGeom prst="rect">
            <a:avLst/>
          </a:prstGeom>
        </p:spPr>
      </p:pic>
      <p:sp>
        <p:nvSpPr>
          <p:cNvPr id="40" name="Text 31"/>
          <p:cNvSpPr/>
          <p:nvPr/>
        </p:nvSpPr>
        <p:spPr>
          <a:xfrm>
            <a:off x="3401568" y="45354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ACH / eCheck</a:t>
            </a:r>
            <a:endParaRPr lang="en-US" sz="1200" dirty="0"/>
          </a:p>
        </p:txBody>
      </p:sp>
      <p:sp>
        <p:nvSpPr>
          <p:cNvPr id="41" name="Shape 32"/>
          <p:cNvSpPr/>
          <p:nvPr/>
        </p:nvSpPr>
        <p:spPr>
          <a:xfrm>
            <a:off x="3401568" y="493776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0E2B1C"/>
          </a:solidFill>
          <a:ln/>
        </p:spPr>
      </p:sp>
      <p:sp>
        <p:nvSpPr>
          <p:cNvPr id="42" name="Text 33"/>
          <p:cNvSpPr/>
          <p:nvPr/>
        </p:nvSpPr>
        <p:spPr>
          <a:xfrm>
            <a:off x="3401568" y="49377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TESTED</a:t>
            </a:r>
            <a:endParaRPr lang="en-US" sz="650" dirty="0"/>
          </a:p>
        </p:txBody>
      </p:sp>
      <p:sp>
        <p:nvSpPr>
          <p:cNvPr id="43" name="Shape 34"/>
          <p:cNvSpPr/>
          <p:nvPr/>
        </p:nvSpPr>
        <p:spPr>
          <a:xfrm>
            <a:off x="5943600" y="3931920"/>
            <a:ext cx="2542032" cy="1481328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44" name="Shape 35"/>
          <p:cNvSpPr/>
          <p:nvPr/>
        </p:nvSpPr>
        <p:spPr>
          <a:xfrm>
            <a:off x="5943600" y="3931920"/>
            <a:ext cx="2542032" cy="36576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4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44768" y="4151376"/>
            <a:ext cx="310896" cy="310896"/>
          </a:xfrm>
          <a:prstGeom prst="rect">
            <a:avLst/>
          </a:prstGeom>
        </p:spPr>
      </p:pic>
      <p:sp>
        <p:nvSpPr>
          <p:cNvPr id="46" name="Text 36"/>
          <p:cNvSpPr/>
          <p:nvPr/>
        </p:nvSpPr>
        <p:spPr>
          <a:xfrm>
            <a:off x="6144768" y="45354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Customer Vault</a:t>
            </a:r>
            <a:endParaRPr lang="en-US" sz="1200" dirty="0"/>
          </a:p>
        </p:txBody>
      </p:sp>
      <p:sp>
        <p:nvSpPr>
          <p:cNvPr id="47" name="Shape 37"/>
          <p:cNvSpPr/>
          <p:nvPr/>
        </p:nvSpPr>
        <p:spPr>
          <a:xfrm>
            <a:off x="6144768" y="493776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0E2B1C"/>
          </a:solidFill>
          <a:ln/>
        </p:spPr>
      </p:sp>
      <p:sp>
        <p:nvSpPr>
          <p:cNvPr id="48" name="Text 38"/>
          <p:cNvSpPr/>
          <p:nvPr/>
        </p:nvSpPr>
        <p:spPr>
          <a:xfrm>
            <a:off x="6144768" y="49377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TESTED</a:t>
            </a:r>
            <a:endParaRPr lang="en-US" sz="650" dirty="0"/>
          </a:p>
        </p:txBody>
      </p:sp>
      <p:sp>
        <p:nvSpPr>
          <p:cNvPr id="49" name="Shape 39"/>
          <p:cNvSpPr/>
          <p:nvPr/>
        </p:nvSpPr>
        <p:spPr>
          <a:xfrm>
            <a:off x="8686800" y="3931920"/>
            <a:ext cx="2542032" cy="1481328"/>
          </a:xfrm>
          <a:prstGeom prst="rect">
            <a:avLst/>
          </a:prstGeom>
          <a:solidFill>
            <a:srgbClr val="171A1F"/>
          </a:solidFill>
          <a:ln w="12700">
            <a:solidFill>
              <a:srgbClr val="2A2E35"/>
            </a:solidFill>
            <a:prstDash val="solid"/>
          </a:ln>
        </p:spPr>
      </p:sp>
      <p:sp>
        <p:nvSpPr>
          <p:cNvPr id="50" name="Shape 40"/>
          <p:cNvSpPr/>
          <p:nvPr/>
        </p:nvSpPr>
        <p:spPr>
          <a:xfrm>
            <a:off x="8686800" y="3931920"/>
            <a:ext cx="2542032" cy="36576"/>
          </a:xfrm>
          <a:prstGeom prst="rect">
            <a:avLst/>
          </a:prstGeom>
          <a:solidFill>
            <a:srgbClr val="31BE72"/>
          </a:solidFill>
          <a:ln/>
        </p:spPr>
      </p:sp>
      <p:pic>
        <p:nvPicPr>
          <p:cNvPr id="51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87968" y="4151376"/>
            <a:ext cx="310896" cy="310896"/>
          </a:xfrm>
          <a:prstGeom prst="rect">
            <a:avLst/>
          </a:prstGeom>
        </p:spPr>
      </p:pic>
      <p:sp>
        <p:nvSpPr>
          <p:cNvPr id="52" name="Text 41"/>
          <p:cNvSpPr/>
          <p:nvPr/>
        </p:nvSpPr>
        <p:spPr>
          <a:xfrm>
            <a:off x="8887968" y="4535424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Webhooks</a:t>
            </a:r>
            <a:endParaRPr lang="en-US" sz="1200" dirty="0"/>
          </a:p>
        </p:txBody>
      </p:sp>
      <p:sp>
        <p:nvSpPr>
          <p:cNvPr id="53" name="Shape 42"/>
          <p:cNvSpPr/>
          <p:nvPr/>
        </p:nvSpPr>
        <p:spPr>
          <a:xfrm>
            <a:off x="8887968" y="4937760"/>
            <a:ext cx="960120" cy="237744"/>
          </a:xfrm>
          <a:prstGeom prst="roundRect">
            <a:avLst>
              <a:gd name="adj" fmla="val 19231"/>
            </a:avLst>
          </a:prstGeom>
          <a:solidFill>
            <a:srgbClr val="0E2B1C"/>
          </a:solidFill>
          <a:ln/>
        </p:spPr>
      </p:sp>
      <p:sp>
        <p:nvSpPr>
          <p:cNvPr id="54" name="Text 43"/>
          <p:cNvSpPr/>
          <p:nvPr/>
        </p:nvSpPr>
        <p:spPr>
          <a:xfrm>
            <a:off x="8887968" y="4937760"/>
            <a:ext cx="9601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LIVE TESTED</a:t>
            </a:r>
            <a:endParaRPr lang="en-US" sz="6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0B0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88952" cy="54864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8046720" y="2926080"/>
            <a:ext cx="6400800" cy="6400800"/>
          </a:xfrm>
          <a:prstGeom prst="ellipse">
            <a:avLst/>
          </a:prstGeom>
          <a:solidFill>
            <a:srgbClr val="10303F"/>
          </a:solidFill>
          <a:ln/>
        </p:spPr>
      </p:sp>
      <p:sp>
        <p:nvSpPr>
          <p:cNvPr id="5" name="Shape 1"/>
          <p:cNvSpPr/>
          <p:nvPr/>
        </p:nvSpPr>
        <p:spPr>
          <a:xfrm>
            <a:off x="-2286000" y="-2743200"/>
            <a:ext cx="5943600" cy="5943600"/>
          </a:xfrm>
          <a:prstGeom prst="ellipse">
            <a:avLst/>
          </a:prstGeom>
          <a:solidFill>
            <a:srgbClr val="0E2B1C"/>
          </a:solidFill>
          <a:ln/>
        </p:spPr>
      </p:sp>
      <p:pic>
        <p:nvPicPr>
          <p:cNvPr id="6" name="Image 2" descr="/Users/moshiko/Documents/Documents - MacBook Pro/0-Kadima Payments/medusa-payment-kadima/ui/assets/logo-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822960"/>
            <a:ext cx="1691640" cy="384048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777240" y="19202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Ready for production wiring</a:t>
            </a:r>
            <a:endParaRPr lang="en-US" sz="4000" dirty="0"/>
          </a:p>
        </p:txBody>
      </p:sp>
      <p:pic>
        <p:nvPicPr>
          <p:cNvPr id="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" y="2788920"/>
            <a:ext cx="2926080" cy="41148"/>
          </a:xfrm>
          <a:prstGeom prst="rect">
            <a:avLst/>
          </a:prstGeom>
        </p:spPr>
      </p:pic>
      <p:pic>
        <p:nvPicPr>
          <p:cNvPr id="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3200400"/>
            <a:ext cx="274320" cy="274320"/>
          </a:xfrm>
          <a:prstGeom prst="rect">
            <a:avLst/>
          </a:prstGeom>
        </p:spPr>
      </p:pic>
      <p:sp>
        <p:nvSpPr>
          <p:cNvPr id="10" name="Text 3"/>
          <p:cNvSpPr/>
          <p:nvPr/>
        </p:nvSpPr>
        <p:spPr>
          <a:xfrm>
            <a:off x="1234440" y="315468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Swap sandbox for production hosts + the live per-merchant token</a:t>
            </a:r>
            <a:endParaRPr lang="en-US" sz="1450" dirty="0"/>
          </a:p>
        </p:txBody>
      </p:sp>
      <p:pic>
        <p:nvPicPr>
          <p:cNvPr id="1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22960" y="3767328"/>
            <a:ext cx="274320" cy="274320"/>
          </a:xfrm>
          <a:prstGeom prst="rect">
            <a:avLst/>
          </a:prstGeom>
        </p:spPr>
      </p:pic>
      <p:sp>
        <p:nvSpPr>
          <p:cNvPr id="12" name="Text 4"/>
          <p:cNvSpPr/>
          <p:nvPr/>
        </p:nvSpPr>
        <p:spPr>
          <a:xfrm>
            <a:off x="1234440" y="3721608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Register the merchant's webhook URL → /api/webhooks/kadima</a:t>
            </a:r>
            <a:endParaRPr lang="en-US" sz="1450" dirty="0"/>
          </a:p>
        </p:txBody>
      </p:sp>
      <p:pic>
        <p:nvPicPr>
          <p:cNvPr id="1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22960" y="4334256"/>
            <a:ext cx="274320" cy="274320"/>
          </a:xfrm>
          <a:prstGeom prst="rect">
            <a:avLst/>
          </a:prstGeom>
        </p:spPr>
      </p:pic>
      <p:sp>
        <p:nvSpPr>
          <p:cNvPr id="14" name="Text 5"/>
          <p:cNvSpPr/>
          <p:nvPr/>
        </p:nvSpPr>
        <p:spPr>
          <a:xfrm>
            <a:off x="1234440" y="4288536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Compile the providers inside a Medusa app (@medusajs/framework)</a:t>
            </a:r>
            <a:endParaRPr lang="en-US" sz="1450" dirty="0"/>
          </a:p>
        </p:txBody>
      </p:sp>
      <p:pic>
        <p:nvPicPr>
          <p:cNvPr id="1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22960" y="4901184"/>
            <a:ext cx="274320" cy="274320"/>
          </a:xfrm>
          <a:prstGeom prst="rect">
            <a:avLst/>
          </a:prstGeom>
        </p:spPr>
      </p:pic>
      <p:sp>
        <p:nvSpPr>
          <p:cNvPr id="16" name="Text 6"/>
          <p:cNvSpPr/>
          <p:nvPr/>
        </p:nvSpPr>
        <p:spPr>
          <a:xfrm>
            <a:off x="1234440" y="4855464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CFD6DD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Port the console endpoints into the ops dashboard, keyed per merchant</a:t>
            </a:r>
            <a:endParaRPr lang="en-US" sz="1450" dirty="0"/>
          </a:p>
        </p:txBody>
      </p:sp>
      <p:sp>
        <p:nvSpPr>
          <p:cNvPr id="17" name="Text 7"/>
          <p:cNvSpPr/>
          <p:nvPr/>
        </p:nvSpPr>
        <p:spPr>
          <a:xfrm>
            <a:off x="822960" y="571500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31BE72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Card &amp; ACH, straight through Kadima — no middle gateway.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Kadima ↔ Medusa Direct Integration</dc:title>
  <dc:subject>PptxGenJS Presentation</dc:subject>
  <dc:creator>Kadima Payments</dc:creator>
  <cp:lastModifiedBy>Kadima Payments</cp:lastModifiedBy>
  <cp:revision>1</cp:revision>
  <dcterms:created xsi:type="dcterms:W3CDTF">2026-06-13T09:45:15Z</dcterms:created>
  <dcterms:modified xsi:type="dcterms:W3CDTF">2026-06-13T09:45:15Z</dcterms:modified>
</cp:coreProperties>
</file>