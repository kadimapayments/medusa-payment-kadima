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548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692640" y="-2743200"/>
            <a:ext cx="5852160" cy="5852160"/>
          </a:xfrm>
          <a:prstGeom prst="ellipse">
            <a:avLst/>
          </a:prstGeom>
          <a:solidFill>
            <a:srgbClr val="10303F"/>
          </a:solidFill>
          <a:ln/>
        </p:spPr>
      </p:sp>
      <p:sp>
        <p:nvSpPr>
          <p:cNvPr id="4" name="Shape 1"/>
          <p:cNvSpPr/>
          <p:nvPr/>
        </p:nvSpPr>
        <p:spPr>
          <a:xfrm>
            <a:off x="-2194560" y="4206240"/>
            <a:ext cx="5852160" cy="5852160"/>
          </a:xfrm>
          <a:prstGeom prst="ellipse">
            <a:avLst/>
          </a:prstGeom>
          <a:solidFill>
            <a:srgbClr val="0E2B1C"/>
          </a:solidFill>
          <a:ln/>
        </p:spPr>
      </p:sp>
      <p:pic>
        <p:nvPicPr>
          <p:cNvPr id="5" name="Image 1" descr="/Users/moshiko/Documents/Documents - MacBook Pro/0-Kadima Payments/medusa-payment-kadima/ui/assets/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777240"/>
            <a:ext cx="201168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" y="2057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MEDUSA PLUGIN · INSTALL GUIDE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77240" y="2468880"/>
            <a:ext cx="10424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Accept payments with </a:t>
            </a:r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Kadima</a:t>
            </a:r>
            <a:pPr indent="0" marL="0">
              <a:lnSpc>
                <a:spcPct val="100000"/>
              </a:lnSpc>
              <a:buNone/>
            </a:pP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 your Medusa store</a:t>
            </a:r>
            <a:endParaRPr lang="en-US" sz="4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43400"/>
            <a:ext cx="3108960" cy="411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2960" y="4572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A9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medusa-payment-kadima</a:t>
            </a:r>
            <a:pPr indent="0" marL="0">
              <a:buNone/>
            </a:pPr>
            <a:r>
              <a:rPr lang="en-US" sz="130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  ·  card + ACH, no middle gateway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54864"/>
          </a:xfrm>
          <a:prstGeom prst="rect">
            <a:avLst/>
          </a:prstGeom>
        </p:spPr>
      </p:pic>
      <p:pic>
        <p:nvPicPr>
          <p:cNvPr id="3" name="Image 1" descr="/Users/moshiko/Documents/Documents - MacBook Pro/0-Kadima Payments/medusa-payment-kadima/ui/assets/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19088"/>
            <a:ext cx="804672" cy="1828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274552" y="634593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548640" y="402336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you get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566928" y="950976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One plugin adds Kadima as a native payment method at checkout — cards and bank payments.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48640" y="1737360"/>
            <a:ext cx="3529584" cy="210312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48640" y="1737360"/>
            <a:ext cx="3529584" cy="41148"/>
          </a:xfrm>
          <a:prstGeom prst="rect">
            <a:avLst/>
          </a:prstGeom>
          <a:solidFill>
            <a:srgbClr val="31BE72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993392"/>
            <a:ext cx="384048" cy="3840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4672" y="248716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Cards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804672" y="2816352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Visa/MC/Amex/Discover via Kadima Hosted Fields. Auth, capture, refund, saved cards.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325112" y="1737360"/>
            <a:ext cx="3529584" cy="210312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4325112" y="1737360"/>
            <a:ext cx="3529584" cy="41148"/>
          </a:xfrm>
          <a:prstGeom prst="rect">
            <a:avLst/>
          </a:prstGeom>
          <a:solidFill>
            <a:srgbClr val="31BE72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44" y="1993392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581144" y="248716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ACH / eCheck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4581144" y="2816352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Bank debits with SEC codes (PPD/CCD/WEB/TEL). Settlement &amp; returns via webhook.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8101584" y="1737360"/>
            <a:ext cx="3529584" cy="210312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101584" y="1737360"/>
            <a:ext cx="3529584" cy="41148"/>
          </a:xfrm>
          <a:prstGeom prst="rect">
            <a:avLst/>
          </a:prstGeom>
          <a:solidFill>
            <a:srgbClr val="31BE72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7616" y="1993392"/>
            <a:ext cx="384048" cy="38404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357616" y="248716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PCI SAQ-A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8357616" y="2816352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Card data is entered in Kadima's secure iframe — it never touches your store or server.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548640" y="3977640"/>
            <a:ext cx="3529584" cy="182880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548640" y="3977640"/>
            <a:ext cx="3529584" cy="41148"/>
          </a:xfrm>
          <a:prstGeom prst="rect">
            <a:avLst/>
          </a:prstGeom>
          <a:solidFill>
            <a:srgbClr val="31BE72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4233672"/>
            <a:ext cx="384048" cy="38404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04672" y="472744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middle gateway</a:t>
            </a:r>
            <a:endParaRPr lang="en-US" sz="1450" dirty="0"/>
          </a:p>
        </p:txBody>
      </p:sp>
      <p:sp>
        <p:nvSpPr>
          <p:cNvPr id="26" name="Text 18"/>
          <p:cNvSpPr/>
          <p:nvPr/>
        </p:nvSpPr>
        <p:spPr>
          <a:xfrm>
            <a:off x="804672" y="505663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Process directly through Kadima — no NMI or extra gateway fees in between.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4325112" y="3977640"/>
            <a:ext cx="3529584" cy="182880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4325112" y="3977640"/>
            <a:ext cx="3529584" cy="41148"/>
          </a:xfrm>
          <a:prstGeom prst="rect">
            <a:avLst/>
          </a:prstGeom>
          <a:solidFill>
            <a:srgbClr val="31BE72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1144" y="4233672"/>
            <a:ext cx="384048" cy="38404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581144" y="472744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Saved cards &amp; recurring</a:t>
            </a:r>
            <a:endParaRPr lang="en-US" sz="1450" dirty="0"/>
          </a:p>
        </p:txBody>
      </p:sp>
      <p:sp>
        <p:nvSpPr>
          <p:cNvPr id="31" name="Text 22"/>
          <p:cNvSpPr/>
          <p:nvPr/>
        </p:nvSpPr>
        <p:spPr>
          <a:xfrm>
            <a:off x="4581144" y="505663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Store cards in Kadima's Customer Vault for one-click repeat &amp; subscription billing.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8101584" y="3977640"/>
            <a:ext cx="3529584" cy="182880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8101584" y="3977640"/>
            <a:ext cx="3529584" cy="41148"/>
          </a:xfrm>
          <a:prstGeom prst="rect">
            <a:avLst/>
          </a:prstGeom>
          <a:solidFill>
            <a:srgbClr val="31BE72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7616" y="4233672"/>
            <a:ext cx="384048" cy="38404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8357616" y="472744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Webhook reconciliation</a:t>
            </a:r>
            <a:endParaRPr lang="en-US" sz="1450" dirty="0"/>
          </a:p>
        </p:txBody>
      </p:sp>
      <p:sp>
        <p:nvSpPr>
          <p:cNvPr id="36" name="Text 26"/>
          <p:cNvSpPr/>
          <p:nvPr/>
        </p:nvSpPr>
        <p:spPr>
          <a:xfrm>
            <a:off x="8357616" y="505663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Signed events keep order status in sync automatically (settled, refunded, returned).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54864"/>
          </a:xfrm>
          <a:prstGeom prst="rect">
            <a:avLst/>
          </a:prstGeom>
        </p:spPr>
      </p:pic>
      <p:pic>
        <p:nvPicPr>
          <p:cNvPr id="3" name="Image 1" descr="/Users/moshiko/Documents/Documents - MacBook Pro/0-Kadima Payments/medusa-payment-kadima/ui/assets/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19088"/>
            <a:ext cx="804672" cy="1828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274552" y="634593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548640" y="402336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Before you start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566928" y="950976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Two things: a Medusa v2 store, and a Kadima merchant account with API credentials.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48640" y="1737360"/>
            <a:ext cx="5440680" cy="411480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11680"/>
            <a:ext cx="457200" cy="457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417320" y="202996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Medusa v2 store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822960" y="26060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Self-hosted Medusa v2 backend + a storefront (e.g. the Next.js starter). New to Medusa? Spin one up with: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822960" y="3383280"/>
            <a:ext cx="4892040" cy="548640"/>
          </a:xfrm>
          <a:prstGeom prst="rect">
            <a:avLst/>
          </a:prstGeom>
          <a:solidFill>
            <a:srgbClr val="0B0D11"/>
          </a:solidFill>
          <a:ln w="12700">
            <a:solidFill>
              <a:srgbClr val="2A2E35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1051560" y="3547872"/>
            <a:ext cx="44348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31B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create-medusa-app my-store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822960" y="4069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Requires Node 20+ and PostgreSQL.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199632" y="1737360"/>
            <a:ext cx="5440680" cy="411480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201168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068312" y="202996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Kadima credentials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6473952" y="2606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boarded Kadima merchant account. You'll create the token in Step 1; you'll also use:</a:t>
            </a:r>
            <a:endParaRPr lang="en-US" sz="12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3273552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784848" y="3246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API access token  </a:t>
            </a:r>
            <a:pPr indent="0" marL="0">
              <a:buNone/>
            </a:pPr>
            <a:r>
              <a:rPr lang="en-US" sz="120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 created in Step 1 (scoped)</a:t>
            </a:r>
            <a:endParaRPr lang="en-US" sz="12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3913632"/>
            <a:ext cx="219456" cy="21945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784848" y="38862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Terminal ID  </a:t>
            </a:r>
            <a:pPr indent="0" marL="0">
              <a:buNone/>
            </a:pPr>
            <a:r>
              <a:rPr lang="en-US" sz="120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 your card MID/TID</a:t>
            </a:r>
            <a:endParaRPr lang="en-US" sz="12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952" y="4553712"/>
            <a:ext cx="219456" cy="219456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784848" y="45262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DBA ID  </a:t>
            </a:r>
            <a:pPr indent="0" marL="0">
              <a:buNone/>
            </a:pPr>
            <a:r>
              <a:rPr lang="en-US" sz="120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 for ACH + saved cards</a:t>
            </a:r>
            <a:endParaRPr lang="en-US" sz="12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3952" y="5193792"/>
            <a:ext cx="219456" cy="219456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784848" y="51663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Webhook secret  </a:t>
            </a:r>
            <a:pPr indent="0" marL="0">
              <a:buNone/>
            </a:pPr>
            <a:r>
              <a:rPr lang="en-US" sz="120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 to verify signed events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54864"/>
          </a:xfrm>
          <a:prstGeom prst="rect">
            <a:avLst/>
          </a:prstGeom>
        </p:spPr>
      </p:pic>
      <p:pic>
        <p:nvPicPr>
          <p:cNvPr id="3" name="Image 1" descr="/Users/moshiko/Documents/Documents - MacBook Pro/0-Kadima Payments/medusa-payment-kadima/ui/assets/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19088"/>
            <a:ext cx="804672" cy="1828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274552" y="634593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548640" y="402336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1 — Get your Kadima API credentials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566928" y="950976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Create a scoped API token in your Kadima dashboard — it authenticates every card &amp; ACH call.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0E2B1C"/>
          </a:solidFill>
          <a:ln w="19050">
            <a:solidFill>
              <a:srgbClr val="31BE7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280160" y="1810512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 the dashboard side menu (Help Center category), open Developers → Tokens.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2514600"/>
            <a:ext cx="5897880" cy="333756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761488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277977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Create the token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868680" y="3291840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261872" y="3246120"/>
            <a:ext cx="50292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Click Add token.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868680" y="3913632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261872" y="3867912"/>
            <a:ext cx="50292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Name it (e.g. "Medusa store") and pick your merchant.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868680" y="4535424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261872" y="4489704"/>
            <a:ext cx="50292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Click Submit, then add the permissions (right).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868680" y="515721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261872" y="5111496"/>
            <a:ext cx="50292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Copy the token and store it securely — keep it secret, never commit it to source control.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629400" y="2514600"/>
            <a:ext cx="5010912" cy="333756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2761488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06640" y="277977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Enable these permissions</a:t>
            </a:r>
            <a:endParaRPr lang="en-US" sz="15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3328416"/>
            <a:ext cx="201168" cy="20116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214616" y="331012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Transactions / Payments  </a:t>
            </a:r>
            <a:pPr indent="0" marL="0">
              <a:buNone/>
            </a:pPr>
            <a:r>
              <a:rPr lang="en-US" sz="115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 card auth, capture, refund, void</a:t>
            </a:r>
            <a:endParaRPr lang="en-US" sz="115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0" y="3840480"/>
            <a:ext cx="201168" cy="20116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214616" y="38221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ACH  </a:t>
            </a:r>
            <a:pPr indent="0" marL="0">
              <a:buNone/>
            </a:pPr>
            <a:r>
              <a:rPr lang="en-US" sz="115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 bank debits, status, void</a:t>
            </a:r>
            <a:endParaRPr lang="en-US" sz="115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4352544"/>
            <a:ext cx="201168" cy="20116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214616" y="433425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Customer Vault  </a:t>
            </a:r>
            <a:pPr indent="0" marL="0">
              <a:buNone/>
            </a:pPr>
            <a:r>
              <a:rPr lang="en-US" sz="115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 saved cards &amp; recurring</a:t>
            </a:r>
            <a:endParaRPr lang="en-US" sz="115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3720" y="4864608"/>
            <a:ext cx="201168" cy="20116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214616" y="48463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Webhooks / Events  </a:t>
            </a:r>
            <a:pPr indent="0" marL="0">
              <a:buNone/>
            </a:pPr>
            <a:r>
              <a:rPr lang="en-US" sz="115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 signed status events</a:t>
            </a:r>
            <a:endParaRPr lang="en-US" sz="1150" dirty="0"/>
          </a:p>
        </p:txBody>
      </p:sp>
      <p:sp>
        <p:nvSpPr>
          <p:cNvPr id="32" name="Text 22"/>
          <p:cNvSpPr/>
          <p:nvPr/>
        </p:nvSpPr>
        <p:spPr>
          <a:xfrm>
            <a:off x="6903720" y="5440680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Enable all of them so cards, ACH, saved cards and webhooks all work.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54864"/>
          </a:xfrm>
          <a:prstGeom prst="rect">
            <a:avLst/>
          </a:prstGeom>
        </p:spPr>
      </p:pic>
      <p:pic>
        <p:nvPicPr>
          <p:cNvPr id="3" name="Image 1" descr="/Users/moshiko/Documents/Documents - MacBook Pro/0-Kadima Payments/medusa-payment-kadima/ui/assets/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19088"/>
            <a:ext cx="804672" cy="1828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274552" y="634593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548640" y="402336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2 — Install the plugin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566928" y="950976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One command in your Medusa backend project.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0E2B1C"/>
          </a:solidFill>
          <a:ln w="19050">
            <a:solidFill>
              <a:srgbClr val="31BE7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1280160" y="1783080"/>
            <a:ext cx="10332720" cy="868680"/>
          </a:xfrm>
          <a:prstGeom prst="rect">
            <a:avLst/>
          </a:prstGeom>
          <a:solidFill>
            <a:srgbClr val="0B0D11"/>
          </a:solidFill>
          <a:ln w="12700">
            <a:solidFill>
              <a:srgbClr val="2A2E3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508760" y="1947672"/>
            <a:ext cx="9875520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1B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medusa-payment-kadima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80160" y="2788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Published on npm — public package, MIT licensed.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383280"/>
            <a:ext cx="11091672" cy="246888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5760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6758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gets installed</a:t>
            </a:r>
            <a:endParaRPr lang="en-US" sz="14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206240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88720" y="4151376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Two payment providers: kadima-card (cards) and kadima-ach (bank).</a:t>
            </a:r>
            <a:endParaRPr lang="en-US" sz="12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663440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88720" y="4608576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Ready-to-use storefront components for the card + ACH forms.</a:t>
            </a:r>
            <a:endParaRPr lang="en-US" sz="12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120640"/>
            <a:ext cx="201168" cy="20116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188720" y="5065776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Hosted Fields, Customer Vault, and signed-webhook handling — built in.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54864"/>
          </a:xfrm>
          <a:prstGeom prst="rect">
            <a:avLst/>
          </a:prstGeom>
        </p:spPr>
      </p:pic>
      <p:pic>
        <p:nvPicPr>
          <p:cNvPr id="3" name="Image 1" descr="/Users/moshiko/Documents/Documents - MacBook Pro/0-Kadima Payments/medusa-payment-kadima/ui/assets/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19088"/>
            <a:ext cx="804672" cy="1828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274552" y="634593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548640" y="402336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3 — Configure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566928" y="950976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Register both providers on the Payment module in medusa-config.ts.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48640" y="1645920"/>
            <a:ext cx="7315200" cy="4069080"/>
          </a:xfrm>
          <a:prstGeom prst="rect">
            <a:avLst/>
          </a:prstGeom>
          <a:solidFill>
            <a:srgbClr val="0B0D11"/>
          </a:solidFill>
          <a:ln w="12700">
            <a:solidFill>
              <a:srgbClr val="2A2E35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77240" y="1810512"/>
            <a:ext cx="6858000" cy="3739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8A9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medusa-config.ts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CFD6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modules: [{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CFD6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resolve: "@medusajs/medusa/payment",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CFD6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options: { providers: [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31B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resolve: "medusa-payment-kadima/providers/kadima-card",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CFD6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id: "kadima-card", options: {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CFD6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apiToken: process.env.KADIMA_TOKEN,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27A9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terminalId: Number(process.env.KADIMA_TERMINAL_ID),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27A9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dbaId: Number(process.env.KADIMA_DBA_ID),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CFD6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webhookSecret: process.env.KADIMA_WEBHOOK_SECRET,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CFD6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captureMethod: "auth", sandbox: true } },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31B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resolve: "medusa-payment-kadima/providers/kadima-ach",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CFD6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id: "kadima-ach", options: {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CFD6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apiToken: process.env.KADIMA_TOKEN,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27A9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dbaId: Number(process.env.KADIMA_DBA_ID),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CFD6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secCode: "WEB", sandbox: true } },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CFD6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 }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CFD6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8092440" y="1645920"/>
            <a:ext cx="3547872" cy="406908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920240"/>
            <a:ext cx="384048" cy="3840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869680" y="19385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Then</a:t>
            </a:r>
            <a:endParaRPr lang="en-US" sz="15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2542032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641080" y="2487168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Put your Kadima values in .env.</a:t>
            </a:r>
            <a:endParaRPr lang="en-US" sz="11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3364992"/>
            <a:ext cx="182880" cy="1828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641080" y="3310128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Enable both providers in your region / sales channel.</a:t>
            </a:r>
            <a:endParaRPr lang="en-US" sz="11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4187952"/>
            <a:ext cx="182880" cy="1828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641080" y="4133088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captureMethod: "auth" captures on fulfillment; "sale" captures now.</a:t>
            </a:r>
            <a:endParaRPr lang="en-US" sz="11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6760" y="5010912"/>
            <a:ext cx="182880" cy="18288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8641080" y="4956048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Set sandbox explicitly — sandbox: true to test, false for live.</a:t>
            </a:r>
            <a:endParaRPr lang="en-US" sz="1100" dirty="0"/>
          </a:p>
        </p:txBody>
      </p:sp>
      <p:sp>
        <p:nvSpPr>
          <p:cNvPr id="20" name="Shape 11"/>
          <p:cNvSpPr/>
          <p:nvPr/>
        </p:nvSpPr>
        <p:spPr>
          <a:xfrm>
            <a:off x="548640" y="5852160"/>
            <a:ext cx="11091672" cy="548640"/>
          </a:xfrm>
          <a:prstGeom prst="rect">
            <a:avLst/>
          </a:prstGeom>
          <a:solidFill>
            <a:srgbClr val="2A1E0E"/>
          </a:solidFill>
          <a:ln w="12700">
            <a:solidFill>
              <a:srgbClr val="C98A2B"/>
            </a:solidFill>
            <a:prstDash val="solid"/>
          </a:ln>
        </p:spPr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5989320"/>
            <a:ext cx="274320" cy="27432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1143000" y="5888736"/>
            <a:ext cx="10332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0B45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Don't derive sandbox from NODE_ENV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Railway/Render/Vercel set NODE_ENV=production, which sends sandbox creds to the live host (401). The plugin logs its resolved host + sandbox + token on startup — check that first.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54864"/>
          </a:xfrm>
          <a:prstGeom prst="rect">
            <a:avLst/>
          </a:prstGeom>
        </p:spPr>
      </p:pic>
      <p:pic>
        <p:nvPicPr>
          <p:cNvPr id="3" name="Image 1" descr="/Users/moshiko/Documents/Documents - MacBook Pro/0-Kadima Payments/medusa-payment-kadima/ui/assets/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19088"/>
            <a:ext cx="804672" cy="1828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274552" y="634593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548640" y="402336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4 — Add the checkout components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566928" y="950976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Drop the included storefront components into your checkout's payment step.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48640" y="1783080"/>
            <a:ext cx="5440680" cy="237744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48640" y="1783080"/>
            <a:ext cx="5440680" cy="41148"/>
          </a:xfrm>
          <a:prstGeom prst="rect">
            <a:avLst/>
          </a:prstGeom>
          <a:solidFill>
            <a:srgbClr val="31BE72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039112"/>
            <a:ext cx="384048" cy="3840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4672" y="2532888"/>
            <a:ext cx="4928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KadimaHostedFields.tsx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804672" y="2862072"/>
            <a:ext cx="492861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Renders Kadima's secure card fields for the kadima-card provider. The customer enters the card in Kadima's iframe; on success your cart completes.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6199632" y="1783080"/>
            <a:ext cx="5440680" cy="237744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6199632" y="1783080"/>
            <a:ext cx="5440680" cy="41148"/>
          </a:xfrm>
          <a:prstGeom prst="rect">
            <a:avLst/>
          </a:prstGeom>
          <a:solidFill>
            <a:srgbClr val="31BE72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2039112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55664" y="2532888"/>
            <a:ext cx="4928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KadimaAchForm.tsx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6455664" y="2862072"/>
            <a:ext cx="492861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Collects bank details for the kadima-ach provider, writes them to the payment session, and places the order (authorized; settles in 1–4 days).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566928" y="43891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Copy from the package's storefront/ folder: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548640" y="4709160"/>
            <a:ext cx="11091672" cy="914400"/>
          </a:xfrm>
          <a:prstGeom prst="rect">
            <a:avLst/>
          </a:prstGeom>
          <a:solidFill>
            <a:srgbClr val="0B0D11"/>
          </a:solidFill>
          <a:ln w="12700">
            <a:solidFill>
              <a:srgbClr val="2A2E35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777240" y="4873752"/>
            <a:ext cx="10634472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A9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node_modules/medusa-payment-kadima/storefront/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CFD6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KadimaHostedFields.tsx   KadimaAchForm.tsx   README.md  (wiring guide)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54864"/>
          </a:xfrm>
          <a:prstGeom prst="rect">
            <a:avLst/>
          </a:prstGeom>
        </p:spPr>
      </p:pic>
      <p:pic>
        <p:nvPicPr>
          <p:cNvPr id="3" name="Image 1" descr="/Users/moshiko/Documents/Documents - MacBook Pro/0-Kadima Payments/medusa-payment-kadima/ui/assets/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19088"/>
            <a:ext cx="804672" cy="1828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274552" y="634593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548640" y="402336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5 — Register the webhook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566928" y="950976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 settlements, refunds and ACH returns reconcile order status automatically.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0E2B1C"/>
          </a:solidFill>
          <a:ln w="19050">
            <a:solidFill>
              <a:srgbClr val="31BE7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280160" y="181051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 your Kadima dashboard, add a Webhook URL pointing to your Medusa app: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1280160" y="2377440"/>
            <a:ext cx="10332720" cy="1097280"/>
          </a:xfrm>
          <a:prstGeom prst="rect">
            <a:avLst/>
          </a:prstGeom>
          <a:solidFill>
            <a:srgbClr val="0B0D11"/>
          </a:solidFill>
          <a:ln w="12700">
            <a:solidFill>
              <a:srgbClr val="2A2E3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508760" y="2542032"/>
            <a:ext cx="98755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31B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https://&lt;your-store&gt;/hooks/payment/kadima-card</a:t>
            </a:r>
            <a:endParaRPr lang="en-US" sz="12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31B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https://&lt;your-store&gt;/hooks/payment/kadima-ach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749040"/>
            <a:ext cx="11091672" cy="210312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22960" y="3977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Event → what happens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507992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61288" y="44805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9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transaction/create  </a:t>
            </a:r>
            <a:pPr indent="0" marL="0">
              <a:buNone/>
            </a:pPr>
            <a:r>
              <a:rPr lang="en-US" sz="11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 payment authorized / captured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507992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647688" y="44805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9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transaction/refund  </a:t>
            </a:r>
            <a:pPr indent="0" marL="0">
              <a:buNone/>
            </a:pPr>
            <a:r>
              <a:rPr lang="en-US" sz="11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 refund recorded</a:t>
            </a:r>
            <a:endParaRPr lang="en-US" sz="11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074920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61288" y="504748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9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ach/updateStatus → Settled  </a:t>
            </a:r>
            <a:pPr indent="0" marL="0">
              <a:buNone/>
            </a:pPr>
            <a:r>
              <a:rPr lang="en-US" sz="11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 ACH captured</a:t>
            </a:r>
            <a:endParaRPr lang="en-US" sz="11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5074920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647688" y="504748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9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ach/updateStatus → Returned  </a:t>
            </a:r>
            <a:pPr indent="0" marL="0">
              <a:buNone/>
            </a:pPr>
            <a:r>
              <a:rPr lang="en-US" sz="11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 order flagged / reversed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54864"/>
          </a:xfrm>
          <a:prstGeom prst="rect">
            <a:avLst/>
          </a:prstGeom>
        </p:spPr>
      </p:pic>
      <p:pic>
        <p:nvPicPr>
          <p:cNvPr id="3" name="Image 1" descr="/Users/moshiko/Documents/Documents - MacBook Pro/0-Kadima Payments/medusa-payment-kadima/ui/assets/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19088"/>
            <a:ext cx="804672" cy="1828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274552" y="634593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548640" y="402336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6 — Test, then go live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566928" y="950976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Verify on sandbox, then flip to production.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48640" y="1783080"/>
            <a:ext cx="5440680" cy="393192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48640" y="1783080"/>
            <a:ext cx="5440680" cy="45720"/>
          </a:xfrm>
          <a:prstGeom prst="rect">
            <a:avLst/>
          </a:prstGeom>
          <a:solidFill>
            <a:srgbClr val="27A9E2"/>
          </a:solidFill>
          <a:ln/>
        </p:spPr>
      </p:sp>
      <p:sp>
        <p:nvSpPr>
          <p:cNvPr id="9" name="Text 5"/>
          <p:cNvSpPr/>
          <p:nvPr/>
        </p:nvSpPr>
        <p:spPr>
          <a:xfrm>
            <a:off x="82296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9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Test (sandbox)</a:t>
            </a:r>
            <a:endParaRPr lang="en-US" sz="15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560320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2505456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 Kadima sandbox credentials + a test card (4111 1111 1111 1111, 12/30, CVV 999).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429000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88720" y="3374136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Run a full checkout: card and ACH.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297680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188720" y="4242816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Confirm the order is paid and the webhook updates status.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6199632" y="1783080"/>
            <a:ext cx="5440680" cy="393192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7" name="Shape 10"/>
          <p:cNvSpPr/>
          <p:nvPr/>
        </p:nvSpPr>
        <p:spPr>
          <a:xfrm>
            <a:off x="6199632" y="1783080"/>
            <a:ext cx="5440680" cy="45720"/>
          </a:xfrm>
          <a:prstGeom prst="rect">
            <a:avLst/>
          </a:prstGeom>
          <a:solidFill>
            <a:srgbClr val="31BE72"/>
          </a:solidFill>
          <a:ln/>
        </p:spPr>
      </p:sp>
      <p:sp>
        <p:nvSpPr>
          <p:cNvPr id="18" name="Text 11"/>
          <p:cNvSpPr/>
          <p:nvPr/>
        </p:nvSpPr>
        <p:spPr>
          <a:xfrm>
            <a:off x="6473952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 live (production)</a:t>
            </a:r>
            <a:endParaRPr lang="en-US" sz="15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2560320"/>
            <a:ext cx="201168" cy="20116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784848" y="251460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Set sandbox: false on both providers.</a:t>
            </a:r>
            <a:endParaRPr lang="en-US" sz="12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952" y="3310128"/>
            <a:ext cx="201168" cy="20116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784848" y="3264408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Swap in your live Kadima token + terminal/dba.</a:t>
            </a:r>
            <a:endParaRPr lang="en-US" sz="12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3952" y="4059936"/>
            <a:ext cx="201168" cy="201168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784848" y="4014216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Point the webhook at your production URL.</a:t>
            </a:r>
            <a:endParaRPr lang="en-US" sz="120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3952" y="4809744"/>
            <a:ext cx="201168" cy="201168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6784848" y="4764024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Take a small real transaction to confirm.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54864"/>
          </a:xfrm>
          <a:prstGeom prst="rect">
            <a:avLst/>
          </a:prstGeom>
        </p:spPr>
      </p:pic>
      <p:pic>
        <p:nvPicPr>
          <p:cNvPr id="3" name="Image 1" descr="/Users/moshiko/Documents/Documents - MacBook Pro/0-Kadima Payments/medusa-payment-kadima/ui/assets/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19088"/>
            <a:ext cx="804672" cy="1828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274552" y="634593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548640" y="402336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How a card payment flows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566928" y="950976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Card data never touches your servers — you stay in PCI SAQ-A scope.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48640" y="1920240"/>
            <a:ext cx="2606040" cy="283464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04672" y="2176272"/>
            <a:ext cx="548640" cy="548640"/>
          </a:xfrm>
          <a:prstGeom prst="ellipse">
            <a:avLst/>
          </a:prstGeom>
          <a:solidFill>
            <a:srgbClr val="0E2B1C"/>
          </a:solidFill>
          <a:ln w="19050">
            <a:solidFill>
              <a:srgbClr val="31BE7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04672" y="21762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04672" y="2880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Checkout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04672" y="329184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Customer picks Kadima at checkout; a payment session is created.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090672" y="3154680"/>
            <a:ext cx="310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1BE72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3355848" y="1920240"/>
            <a:ext cx="2606040" cy="283464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611880" y="2176272"/>
            <a:ext cx="548640" cy="548640"/>
          </a:xfrm>
          <a:prstGeom prst="ellipse">
            <a:avLst/>
          </a:prstGeom>
          <a:solidFill>
            <a:srgbClr val="0E2B1C"/>
          </a:solidFill>
          <a:ln w="19050">
            <a:solidFill>
              <a:srgbClr val="31BE7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611880" y="21762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3611880" y="2880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Secure fields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611880" y="329184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Kadima's Hosted Fields render; the customer types their card in Kadima's iframe.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897880" y="3154680"/>
            <a:ext cx="310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1BE72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6163056" y="1920240"/>
            <a:ext cx="2606040" cy="283464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19088" y="2176272"/>
            <a:ext cx="548640" cy="548640"/>
          </a:xfrm>
          <a:prstGeom prst="ellipse">
            <a:avLst/>
          </a:prstGeom>
          <a:solidFill>
            <a:srgbClr val="0E2B1C"/>
          </a:solidFill>
          <a:ln w="19050">
            <a:solidFill>
              <a:srgbClr val="31BE72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419088" y="21762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6419088" y="2880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Kadima processes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419088" y="329184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card is authorized by Kadima directly — the PAN never reaches your store.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8705088" y="3154680"/>
            <a:ext cx="310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1BE72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8970264" y="1920240"/>
            <a:ext cx="2606040" cy="283464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9226296" y="2176272"/>
            <a:ext cx="548640" cy="548640"/>
          </a:xfrm>
          <a:prstGeom prst="ellipse">
            <a:avLst/>
          </a:prstGeom>
          <a:solidFill>
            <a:srgbClr val="0E2B1C"/>
          </a:solidFill>
          <a:ln w="19050">
            <a:solidFill>
              <a:srgbClr val="31BE72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226296" y="21762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9226296" y="2880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Reconcile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9226296" y="329184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Kadima's signed webhook updates the Medusa order automatically.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566928" y="5029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ACH works the same way, asynchronously: the order is placed as authorized, then settles or returns via webhook.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5486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5486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046720" y="2743200"/>
            <a:ext cx="6400800" cy="6400800"/>
          </a:xfrm>
          <a:prstGeom prst="ellipse">
            <a:avLst/>
          </a:prstGeom>
          <a:solidFill>
            <a:srgbClr val="10303F"/>
          </a:solidFill>
          <a:ln/>
        </p:spPr>
      </p:sp>
      <p:pic>
        <p:nvPicPr>
          <p:cNvPr id="5" name="Image 2" descr="/Users/moshiko/Documents/Documents - MacBook Pro/0-Kadima Payments/medusa-payment-kadima/ui/assets/logo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822960"/>
            <a:ext cx="1691640" cy="38404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777240" y="18288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You're ready to accept payments</a:t>
            </a:r>
            <a:endParaRPr lang="en-US" sz="3400" dirty="0"/>
          </a:p>
        </p:txBody>
      </p:sp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2651760"/>
            <a:ext cx="2926080" cy="41148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127248"/>
            <a:ext cx="237744" cy="237744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1188720" y="310896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npm:  </a:t>
            </a:r>
            <a:pPr indent="0" marL="0">
              <a:buNone/>
            </a:pPr>
            <a:r>
              <a:rPr lang="en-US" sz="14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npmjs.com/package/medusa-payment-kadima</a:t>
            </a:r>
            <a:endParaRPr lang="en-US" sz="1400" dirty="0"/>
          </a:p>
        </p:txBody>
      </p:sp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694176"/>
            <a:ext cx="237744" cy="237744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1188720" y="367588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GitHub:  </a:t>
            </a:r>
            <a:pPr indent="0" marL="0">
              <a:buNone/>
            </a:pPr>
            <a:r>
              <a:rPr lang="en-US" sz="14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github.com/kadimapayments/medusa-payment-kadima</a:t>
            </a:r>
            <a:endParaRPr lang="en-US" sz="1400" dirty="0"/>
          </a:p>
        </p:txBody>
      </p:sp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261104"/>
            <a:ext cx="237744" cy="237744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1188720" y="4242816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Storefront guide:  </a:t>
            </a:r>
            <a:pPr indent="0" marL="0">
              <a:buNone/>
            </a:pPr>
            <a:r>
              <a:rPr lang="en-US" sz="14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storefront/ folder in the package</a:t>
            </a:r>
            <a:endParaRPr lang="en-US" sz="1400" dirty="0"/>
          </a:p>
        </p:txBody>
      </p:sp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4828032"/>
            <a:ext cx="237744" cy="237744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1188720" y="4809744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Support:  </a:t>
            </a:r>
            <a:pPr indent="0" marL="0">
              <a:buNone/>
            </a:pPr>
            <a:r>
              <a:rPr lang="en-US" sz="14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your Kadima rep · info@KadimaHQ.com</a:t>
            </a:r>
            <a:endParaRPr lang="en-US" sz="1400" dirty="0"/>
          </a:p>
        </p:txBody>
      </p:sp>
      <p:sp>
        <p:nvSpPr>
          <p:cNvPr id="16" name="Text 6"/>
          <p:cNvSpPr/>
          <p:nvPr/>
        </p:nvSpPr>
        <p:spPr>
          <a:xfrm>
            <a:off x="822960" y="5760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Card &amp; ACH, straight through Kadima — no middle gateway.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Kadima × Medusa — Install Guide</dc:title>
  <dc:subject>PptxGenJS Presentation</dc:subject>
  <dc:creator>Kadima Payments</dc:creator>
  <cp:lastModifiedBy>Kadima Payments</cp:lastModifiedBy>
  <cp:revision>1</cp:revision>
  <dcterms:created xsi:type="dcterms:W3CDTF">2026-06-26T22:06:49Z</dcterms:created>
  <dcterms:modified xsi:type="dcterms:W3CDTF">2026-06-26T22:06:49Z</dcterms:modified>
</cp:coreProperties>
</file>