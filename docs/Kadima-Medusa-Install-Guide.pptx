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692640" y="-2743200"/>
            <a:ext cx="5852160" cy="5852160"/>
          </a:xfrm>
          <a:prstGeom prst="ellipse">
            <a:avLst/>
          </a:prstGeom>
          <a:solidFill>
            <a:srgbClr val="10303F"/>
          </a:solidFill>
          <a:ln/>
        </p:spPr>
      </p:sp>
      <p:sp>
        <p:nvSpPr>
          <p:cNvPr id="4" name="Shape 1"/>
          <p:cNvSpPr/>
          <p:nvPr/>
        </p:nvSpPr>
        <p:spPr>
          <a:xfrm>
            <a:off x="-2194560" y="4206240"/>
            <a:ext cx="5852160" cy="5852160"/>
          </a:xfrm>
          <a:prstGeom prst="ellipse">
            <a:avLst/>
          </a:prstGeom>
          <a:solidFill>
            <a:srgbClr val="0E2B1C"/>
          </a:solidFill>
          <a:ln/>
        </p:spPr>
      </p:sp>
      <p:pic>
        <p:nvPicPr>
          <p:cNvPr id="5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2011680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" y="2057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MEDUSA PLUGIN · INSTALL GUIDE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777240" y="246888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Accept payments with 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</a:t>
            </a:r>
            <a:pPr indent="0" marL="0">
              <a:lnSpc>
                <a:spcPct val="100000"/>
              </a:lnSpc>
              <a:buNone/>
            </a:pP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 your Medusa store</a:t>
            </a:r>
            <a:endParaRPr lang="en-US" sz="4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3108960" cy="411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medusa-payment-kadima</a:t>
            </a:r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 ·  card + ACH, no middle gateway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get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plugin adds Kadima as a native payment method at checkout — cards and bank payments.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99339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4672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Cards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804672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Visa/MC/Amex/Discover via Kadima Hosted Fields. Auth, capture, refund, saved cards.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325112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325112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99339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581144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/ eCheck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4581144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Bank debits with SEC codes (PPD/CCD/WEB/TEL). Settlement &amp; returns via webhook.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8101584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101584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993392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357616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PCI SAQ-A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8357616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data is entered in Kadima's secure iframe — it never touches your store or server.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48640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48640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4233672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04672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middle gateway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804672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Process directly through Kadima — no NMI or extra gateway fees in between.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4325112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4325112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1144" y="4233672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81144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Saved cards &amp; recurring</a:t>
            </a:r>
            <a:endParaRPr lang="en-US" sz="1450" dirty="0"/>
          </a:p>
        </p:txBody>
      </p:sp>
      <p:sp>
        <p:nvSpPr>
          <p:cNvPr id="31" name="Text 22"/>
          <p:cNvSpPr/>
          <p:nvPr/>
        </p:nvSpPr>
        <p:spPr>
          <a:xfrm>
            <a:off x="4581144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 cards in Kadima's Customer Vault for one-click repeat &amp; subscription billing.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8101584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8101584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7616" y="4233672"/>
            <a:ext cx="384048" cy="38404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8357616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 reconciliation</a:t>
            </a:r>
            <a:endParaRPr lang="en-US" sz="1450" dirty="0"/>
          </a:p>
        </p:txBody>
      </p:sp>
      <p:sp>
        <p:nvSpPr>
          <p:cNvPr id="36" name="Text 26"/>
          <p:cNvSpPr/>
          <p:nvPr/>
        </p:nvSpPr>
        <p:spPr>
          <a:xfrm>
            <a:off x="8357616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Signed events keep order status in sync automatically (settled, refunded, returned).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 you start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things: a Medusa v2 store, and a Kadima merchant account with API credentials.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37360"/>
            <a:ext cx="5440680" cy="4114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17320" y="202996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Medusa v2 store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822960" y="26060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Self-hosted Medusa v2 backend + a storefront (e.g. the Next.js starter). New to Medusa? Spin one up with: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822960" y="3383280"/>
            <a:ext cx="4892040" cy="54864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051560" y="3547872"/>
            <a:ext cx="443484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create-medusa-app my-store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Requires Node 20+ and PostgreSQL.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199632" y="1737360"/>
            <a:ext cx="5440680" cy="4114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01168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68312" y="202996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 credentials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473952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boarded Kadima merchant account. You'll create the token in Step 1; you'll also use: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3273552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784848" y="3246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access token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created in Step 1 (scoped)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391363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784848" y="38862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Terminal ID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your card MID/TID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2" y="4553712"/>
            <a:ext cx="219456" cy="21945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784848" y="4526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DBA ID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for ACH + saved cards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5193792"/>
            <a:ext cx="219456" cy="21945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784848" y="5166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 secret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to verify signed events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1 — Get your Kadima API credentials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 a scoped API token in your Kadima dashboard — it authenticates every card &amp; ACH call.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280160" y="181051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 dashboard side menu (Help Center category), open Developers → Tokens.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514600"/>
            <a:ext cx="5897880" cy="333756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61488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7797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 the token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68680" y="32918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261872" y="3246120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Click Add token.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868680" y="39136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61872" y="3867912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 it (e.g. "Medusa store") and pick your merchant.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868680" y="45354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61872" y="4489704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Click Submit, then add the permissions (right).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68680" y="51572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261872" y="511149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 the token and store it securely — keep it secret, never commit it to source control.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629400" y="2514600"/>
            <a:ext cx="5010912" cy="333756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76148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06640" y="277977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Enable these permissions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3328416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214616" y="3310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Transactions / Payments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card auth, capture, refund, void</a:t>
            </a:r>
            <a:endParaRPr lang="en-US" sz="11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840480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214616" y="38221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bank debits, status, void</a:t>
            </a:r>
            <a:endParaRPr lang="en-US" sz="11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4352544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214616" y="43342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Customer Vault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saved cards &amp; recurring</a:t>
            </a:r>
            <a:endParaRPr lang="en-US" sz="115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486460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214616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Webhooks / Events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signed status events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903720" y="5285232"/>
            <a:ext cx="452628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payments need the </a:t>
            </a:r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api-creditcard-payment-read-write</a:t>
            </a:r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scope. Enable all available so ACH, saved cards &amp; webhooks work too.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2 — Install the plugin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command in your Medusa backend project.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280160" y="1783080"/>
            <a:ext cx="10332720" cy="8686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508760" y="1947672"/>
            <a:ext cx="9875520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medusa-payment-kadima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80160" y="2788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Published on npm — public package, MIT licensed.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383280"/>
            <a:ext cx="11091672" cy="246888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5760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6758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gets installed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06240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41513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payment providers: kadima-card (cards) and kadima-ach (bank).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63440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46085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Ready-to-use storefront components for the card + ACH forms.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20640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188720" y="50657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Hosted Fields, Customer Vault, and signed-webhook handling — built in.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3 — Configure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Register both providers on the Payment module in medusa-config.ts.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7315200" cy="40690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1810512"/>
            <a:ext cx="6858000" cy="3739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medusa-config.ts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modules: [{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resolve: "@medusajs/medusa/payment",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options: { providers: [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resolve: "medusa-payment-kadima/providers/kadima-card",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id: "kadima-card", options: 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apiToken: process.env.KADIMA_TOKEN,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terminalId: Number(process.env.KADIMA_TERMINAL_ID),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dbaId: Number(process.env.KADIMA_DBA_ID),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webhookSecret: process.env.KADIMA_WEBHOOK_SECRET,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captureMethod: "auth",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storeUrl: process.env.KADIMA_STORE_URL, // your storefront URL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sandbox: true } },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resolve: "medusa-payment-kadima/providers/kadima-ach",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id: "kadima-ach", options: 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apiToken: process.env.KADIMA_TOKEN,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dbaId: Number(process.env.KADIMA_DBA_ID),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secCode: "WEB", sandbox: true } },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}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092440" y="1645920"/>
            <a:ext cx="3547872" cy="406908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92024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869680" y="19385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</a:t>
            </a:r>
            <a:endParaRPr lang="en-US" sz="15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542032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641080" y="248716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Put your Kadima values + storeUrl (your storefront URL) in .env.</a:t>
            </a:r>
            <a:endParaRPr lang="en-US" sz="11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3364992"/>
            <a:ext cx="182880" cy="1828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641080" y="331012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storeUrl must match where the storefront runs — Hosted Fields locks to it.</a:t>
            </a:r>
            <a:endParaRPr lang="en-US" sz="11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187952"/>
            <a:ext cx="182880" cy="1828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8641080" y="413308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captureMethod: "auth" captures on fulfillment; "sale" captures now.</a:t>
            </a:r>
            <a:endParaRPr lang="en-US" sz="11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5010912"/>
            <a:ext cx="182880" cy="18288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8641080" y="495604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 sandbox explicitly — sandbox: true to test, false for live.</a:t>
            </a:r>
            <a:endParaRPr lang="en-US" sz="1100" dirty="0"/>
          </a:p>
        </p:txBody>
      </p:sp>
      <p:sp>
        <p:nvSpPr>
          <p:cNvPr id="20" name="Shape 11"/>
          <p:cNvSpPr/>
          <p:nvPr/>
        </p:nvSpPr>
        <p:spPr>
          <a:xfrm>
            <a:off x="548640" y="5852160"/>
            <a:ext cx="11091672" cy="548640"/>
          </a:xfrm>
          <a:prstGeom prst="rect">
            <a:avLst/>
          </a:prstGeom>
          <a:solidFill>
            <a:srgbClr val="2A1E0E"/>
          </a:solidFill>
          <a:ln w="12700">
            <a:solidFill>
              <a:srgbClr val="C98A2B"/>
            </a:solidFill>
            <a:prstDash val="solid"/>
          </a:ln>
        </p:spPr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989320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143000" y="5888736"/>
            <a:ext cx="10332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0B45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Don't derive sandbox from NODE_ENV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Railway/Render/Vercel set NODE_ENV=production, which sends sandbox creds to the live host (401). The plugin logs its resolved host + sandbox + token on startup — check that first.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4 — Add the checkout components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included storefront components into your checkout's payment step.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5440680" cy="23774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83080"/>
            <a:ext cx="5440680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03911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4672" y="2532888"/>
            <a:ext cx="4928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KadimaHostedFields.tsx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804672" y="2862072"/>
            <a:ext cx="492861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Renders Kadima's secure card fields for the kadima-card provider. The customer enters the card in Kadima's iframe; on success your cart completes.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199632" y="1783080"/>
            <a:ext cx="5440680" cy="23774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99632" y="1783080"/>
            <a:ext cx="5440680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03911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55664" y="2532888"/>
            <a:ext cx="4928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KadimaAchForm.tsx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455664" y="2862072"/>
            <a:ext cx="492861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Collects bank details for the kadima-ach provider, writes them to the payment session, and places the order (authorized; settles in 1–4 days).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56692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 from the package's storefront/ folder: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777240" y="4873752"/>
            <a:ext cx="1063447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node_modules/medusa-payment-kadima/storefront/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KadimaHostedFields.tsx   KadimaAchForm.tsx   README.md  (wiring guide)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Pass </a:t>
            </a:r>
            <a:pPr indent="0" marL="0"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amount={cart.total}</a:t>
            </a:r>
            <a:pPr indent="0" marL="0">
              <a:buNone/>
            </a:pPr>
            <a:r>
              <a:rPr lang="en-US" sz="10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to KadimaHostedFields — Medusa v2 totals are already in dollars, so don't divide by 100.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 — Register the webhook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settlements, refunds and ACH returns reconcile order status automatically.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280160" y="181051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your Kadima dashboard, add a Webhook URL pointing to your Medusa app: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280160" y="2377440"/>
            <a:ext cx="10332720" cy="10972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508760" y="2542032"/>
            <a:ext cx="987552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https://&lt;your-store&gt;/hooks/payment/kadima-card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https://&lt;your-store&gt;/hooks/payment/kadima-ach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749040"/>
            <a:ext cx="11091672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Event → what happens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07992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61288" y="4480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transaction/create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payment authorized / captured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07992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47688" y="4480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transaction/refund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refund recorded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7492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61288" y="50474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ach/updateStatus → Settled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ACH captured</a:t>
            </a:r>
            <a:endParaRPr lang="en-US" sz="11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507492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647688" y="50474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ach/updateStatus → Returned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order flagged / reversed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6 — Test, then go live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Verify on sandbox, then flip to production.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5440680" cy="39319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83080"/>
            <a:ext cx="5440680" cy="45720"/>
          </a:xfrm>
          <a:prstGeom prst="rect">
            <a:avLst/>
          </a:prstGeom>
          <a:solidFill>
            <a:srgbClr val="27A9E2"/>
          </a:solidFill>
          <a:ln/>
        </p:spPr>
      </p:sp>
      <p:sp>
        <p:nvSpPr>
          <p:cNvPr id="9" name="Text 5"/>
          <p:cNvSpPr/>
          <p:nvPr/>
        </p:nvSpPr>
        <p:spPr>
          <a:xfrm>
            <a:off x="8229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9E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Test (sandbox)</a:t>
            </a:r>
            <a:endParaRPr lang="en-US" sz="15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250545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 Kadima sandbox credentials + a test card (4111 1111 1111 1111, 12/30, CVV 999).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29000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37413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 a full checkout: card and ACH.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9768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188720" y="424281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Confirm the order is paid and the webhook updates status.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199632" y="1783080"/>
            <a:ext cx="5440680" cy="39319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0"/>
          <p:cNvSpPr/>
          <p:nvPr/>
        </p:nvSpPr>
        <p:spPr>
          <a:xfrm>
            <a:off x="6199632" y="1783080"/>
            <a:ext cx="5440680" cy="45720"/>
          </a:xfrm>
          <a:prstGeom prst="rect">
            <a:avLst/>
          </a:prstGeom>
          <a:solidFill>
            <a:srgbClr val="31BE72"/>
          </a:solidFill>
          <a:ln/>
        </p:spPr>
      </p:sp>
      <p:sp>
        <p:nvSpPr>
          <p:cNvPr id="18" name="Text 11"/>
          <p:cNvSpPr/>
          <p:nvPr/>
        </p:nvSpPr>
        <p:spPr>
          <a:xfrm>
            <a:off x="6473952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 live (production)</a:t>
            </a:r>
            <a:endParaRPr lang="en-US" sz="15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2560320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84848" y="2514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 sandbox: false on both providers.</a:t>
            </a:r>
            <a:endParaRPr lang="en-US" sz="12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2" y="331012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784848" y="326440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Swap in your live Kadima token + terminal/dba.</a:t>
            </a:r>
            <a:endParaRPr lang="en-US" sz="12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59936"/>
            <a:ext cx="201168" cy="20116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784848" y="4014216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Point the webhook at your production URL.</a:t>
            </a:r>
            <a:endParaRPr lang="en-US" sz="12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2" y="4809744"/>
            <a:ext cx="201168" cy="201168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6784848" y="4764024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Take a small real transaction to confirm.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a card payment flows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data never touches your servers — you stay in PCI SAQ-A scope.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04672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Customer picks Kadima at checkout; a payment session is created.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090672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355848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11880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611880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3611880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Secure fields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11880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Kadima's Hosted Fields render; the customer types their card in Kadima's iframe.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897880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163056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19088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19088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6419088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 processes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419088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card is authorized by Kadima directly — the PAN never reaches your store.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705088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970264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226296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26296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9226296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226296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Kadima's signed webhook updates the Medusa order automatically.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566928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works the same way, asynchronously: the order is placed as authorized, then settles or returns via webhook.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046720" y="2743200"/>
            <a:ext cx="6400800" cy="6400800"/>
          </a:xfrm>
          <a:prstGeom prst="ellipse">
            <a:avLst/>
          </a:prstGeom>
          <a:solidFill>
            <a:srgbClr val="10303F"/>
          </a:solidFill>
          <a:ln/>
        </p:spPr>
      </p:sp>
      <p:pic>
        <p:nvPicPr>
          <p:cNvPr id="5" name="Image 2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822960"/>
            <a:ext cx="1691640" cy="3840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77240" y="18288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You're ready to accept payments</a:t>
            </a:r>
            <a:endParaRPr lang="en-US" sz="34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651760"/>
            <a:ext cx="2926080" cy="41148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127248"/>
            <a:ext cx="237744" cy="23774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188720" y="31089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npm: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npmjs.com/package/medusa-payment-kadima</a:t>
            </a:r>
            <a:endParaRPr lang="en-US" sz="1400" dirty="0"/>
          </a:p>
        </p:txBody>
      </p:sp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694176"/>
            <a:ext cx="237744" cy="23774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188720" y="367588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github.com/kadimapayments/medusa-payment-kadima</a:t>
            </a:r>
            <a:endParaRPr lang="en-US" sz="140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261104"/>
            <a:ext cx="237744" cy="237744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88720" y="424281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Storefront guide: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storefront/ folder in the package</a:t>
            </a:r>
            <a:endParaRPr lang="en-US" sz="140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4828032"/>
            <a:ext cx="237744" cy="237744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88720" y="480974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Kadima rep · info@KadimaHQ.com</a:t>
            </a:r>
            <a:endParaRPr lang="en-US" sz="1400" dirty="0"/>
          </a:p>
        </p:txBody>
      </p:sp>
      <p:sp>
        <p:nvSpPr>
          <p:cNvPr id="16" name="Text 6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&amp; ACH, straight through Kadima — no middle gateway.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Kadima × Medusa — Install Guide</dc:title>
  <dc:subject>PptxGenJS Presentation</dc:subject>
  <dc:creator>Kadima Payments</dc:creator>
  <cp:lastModifiedBy>Kadima Payments</cp:lastModifiedBy>
  <cp:revision>1</cp:revision>
  <dcterms:created xsi:type="dcterms:W3CDTF">2026-06-30T00:01:46Z</dcterms:created>
  <dcterms:modified xsi:type="dcterms:W3CDTF">2026-06-30T00:01:46Z</dcterms:modified>
</cp:coreProperties>
</file>